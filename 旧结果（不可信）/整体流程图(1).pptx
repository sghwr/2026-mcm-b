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8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7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组合 97">
            <a:extLst>
              <a:ext uri="{FF2B5EF4-FFF2-40B4-BE49-F238E27FC236}">
                <a16:creationId xmlns:a16="http://schemas.microsoft.com/office/drawing/2014/main" id="{F08E158F-26D2-7680-F533-1B4A2E9978C4}"/>
              </a:ext>
            </a:extLst>
          </p:cNvPr>
          <p:cNvGrpSpPr/>
          <p:nvPr/>
        </p:nvGrpSpPr>
        <p:grpSpPr>
          <a:xfrm>
            <a:off x="4422609" y="1656888"/>
            <a:ext cx="2902744" cy="3340018"/>
            <a:chOff x="1220433" y="2758161"/>
            <a:chExt cx="2902744" cy="3340018"/>
          </a:xfrm>
        </p:grpSpPr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85111FA5-5489-D79B-9F88-46A362721544}"/>
                </a:ext>
              </a:extLst>
            </p:cNvPr>
            <p:cNvSpPr txBox="1"/>
            <p:nvPr/>
          </p:nvSpPr>
          <p:spPr>
            <a:xfrm>
              <a:off x="1220433" y="2758161"/>
              <a:ext cx="2762885" cy="2877185"/>
            </a:xfrm>
            <a:prstGeom prst="rect">
              <a:avLst/>
            </a:prstGeom>
            <a:ln w="9525">
              <a:solidFill>
                <a:schemeClr val="tx1"/>
              </a:solidFill>
            </a:ln>
            <a:scene3d>
              <a:camera prst="isometricLeftDown"/>
              <a:lightRig rig="threePt" dir="t"/>
            </a:scene3d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lstStyle/>
            <a:p>
              <a:r>
                <a:rPr lang="en-US" altLang="zh-CN" dirty="0"/>
                <a:t>Time-Series Projection of Return on Investment</a:t>
              </a: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DC3FE5AE-5032-FF31-BDB5-B33CAB612B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3415" y="5725160"/>
              <a:ext cx="439762" cy="373019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弧形 100">
              <a:extLst>
                <a:ext uri="{FF2B5EF4-FFF2-40B4-BE49-F238E27FC236}">
                  <a16:creationId xmlns:a16="http://schemas.microsoft.com/office/drawing/2014/main" id="{AF016AA9-60BE-0AD1-D782-EDABC2885CB4}"/>
                </a:ext>
              </a:extLst>
            </p:cNvPr>
            <p:cNvSpPr/>
            <p:nvPr/>
          </p:nvSpPr>
          <p:spPr>
            <a:xfrm rot="10800000">
              <a:off x="3581400" y="5773207"/>
              <a:ext cx="178595" cy="324972"/>
            </a:xfrm>
            <a:prstGeom prst="arc">
              <a:avLst>
                <a:gd name="adj1" fmla="val 15760750"/>
                <a:gd name="adj2" fmla="val 0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弧形 101">
              <a:extLst>
                <a:ext uri="{FF2B5EF4-FFF2-40B4-BE49-F238E27FC236}">
                  <a16:creationId xmlns:a16="http://schemas.microsoft.com/office/drawing/2014/main" id="{2DDC45C8-F0C2-B477-1279-9B7A307607D1}"/>
                </a:ext>
              </a:extLst>
            </p:cNvPr>
            <p:cNvSpPr/>
            <p:nvPr/>
          </p:nvSpPr>
          <p:spPr>
            <a:xfrm rot="10800000">
              <a:off x="1622617" y="4633922"/>
              <a:ext cx="178595" cy="324972"/>
            </a:xfrm>
            <a:prstGeom prst="arc">
              <a:avLst>
                <a:gd name="adj1" fmla="val 16701408"/>
                <a:gd name="adj2" fmla="val 0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C20D6768-B5C1-9C1F-45A5-9B2B0CF49EE1}"/>
                </a:ext>
              </a:extLst>
            </p:cNvPr>
            <p:cNvCxnSpPr>
              <a:cxnSpLocks/>
            </p:cNvCxnSpPr>
            <p:nvPr/>
          </p:nvCxnSpPr>
          <p:spPr>
            <a:xfrm>
              <a:off x="1685070" y="4953000"/>
              <a:ext cx="1973470" cy="114517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88539FE3-DB50-626C-7C8B-9C3DBAF53ACE}"/>
                </a:ext>
              </a:extLst>
            </p:cNvPr>
            <p:cNvCxnSpPr/>
            <p:nvPr/>
          </p:nvCxnSpPr>
          <p:spPr>
            <a:xfrm flipH="1" flipV="1">
              <a:off x="3581400" y="5400040"/>
              <a:ext cx="538480" cy="32512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8" name="组合 347">
            <a:extLst>
              <a:ext uri="{FF2B5EF4-FFF2-40B4-BE49-F238E27FC236}">
                <a16:creationId xmlns:a16="http://schemas.microsoft.com/office/drawing/2014/main" id="{B710611A-2A74-D49A-657D-410543C27890}"/>
              </a:ext>
            </a:extLst>
          </p:cNvPr>
          <p:cNvGrpSpPr/>
          <p:nvPr/>
        </p:nvGrpSpPr>
        <p:grpSpPr>
          <a:xfrm>
            <a:off x="1498866" y="3695135"/>
            <a:ext cx="1694404" cy="1291252"/>
            <a:chOff x="889266" y="3385931"/>
            <a:chExt cx="1694404" cy="1291252"/>
          </a:xfrm>
        </p:grpSpPr>
        <p:sp>
          <p:nvSpPr>
            <p:cNvPr id="8" name="文本框 7"/>
            <p:cNvSpPr txBox="1"/>
            <p:nvPr/>
          </p:nvSpPr>
          <p:spPr>
            <a:xfrm>
              <a:off x="889266" y="3385931"/>
              <a:ext cx="1468701" cy="898837"/>
            </a:xfrm>
            <a:prstGeom prst="rect">
              <a:avLst/>
            </a:prstGeom>
            <a:ln w="9525">
              <a:solidFill>
                <a:schemeClr val="tx1"/>
              </a:solidFill>
            </a:ln>
            <a:scene3d>
              <a:camera prst="isometricLeftDown"/>
              <a:lightRig rig="threePt" dir="t"/>
            </a:scene3d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lstStyle/>
            <a:p>
              <a:r>
                <a:rPr lang="en-US" altLang="zh-CN" sz="1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Multi-Objective optimization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B684733B-412D-4CFD-2E21-2B81B9498A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5653" y="4444425"/>
              <a:ext cx="318017" cy="23275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弧形 43">
              <a:extLst>
                <a:ext uri="{FF2B5EF4-FFF2-40B4-BE49-F238E27FC236}">
                  <a16:creationId xmlns:a16="http://schemas.microsoft.com/office/drawing/2014/main" id="{956348F0-6B0C-1B31-8CBF-1EC3E1FCD66B}"/>
                </a:ext>
              </a:extLst>
            </p:cNvPr>
            <p:cNvSpPr/>
            <p:nvPr/>
          </p:nvSpPr>
          <p:spPr>
            <a:xfrm rot="10800000">
              <a:off x="2144718" y="4317906"/>
              <a:ext cx="211662" cy="359277"/>
            </a:xfrm>
            <a:prstGeom prst="arc">
              <a:avLst>
                <a:gd name="adj1" fmla="val 15760750"/>
                <a:gd name="adj2" fmla="val 0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弧形 48">
              <a:extLst>
                <a:ext uri="{FF2B5EF4-FFF2-40B4-BE49-F238E27FC236}">
                  <a16:creationId xmlns:a16="http://schemas.microsoft.com/office/drawing/2014/main" id="{D6A203E0-AEE3-8075-EE8D-19A21CA51895}"/>
                </a:ext>
              </a:extLst>
            </p:cNvPr>
            <p:cNvSpPr/>
            <p:nvPr/>
          </p:nvSpPr>
          <p:spPr>
            <a:xfrm rot="10800000">
              <a:off x="1104261" y="3721050"/>
              <a:ext cx="211662" cy="359277"/>
            </a:xfrm>
            <a:prstGeom prst="arc">
              <a:avLst>
                <a:gd name="adj1" fmla="val 16701408"/>
                <a:gd name="adj2" fmla="val 0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 </a:t>
              </a:r>
              <a:endParaRPr lang="zh-CN" altLang="en-US" dirty="0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634CBD3-E638-AE2E-6A79-E013D7607D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44717" y="4208463"/>
              <a:ext cx="438953" cy="235962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A9358F50-993F-644E-1AD7-301D33F3F655}"/>
                </a:ext>
              </a:extLst>
            </p:cNvPr>
            <p:cNvCxnSpPr>
              <a:cxnSpLocks/>
            </p:cNvCxnSpPr>
            <p:nvPr/>
          </p:nvCxnSpPr>
          <p:spPr>
            <a:xfrm>
              <a:off x="1172527" y="4067424"/>
              <a:ext cx="1040456" cy="597619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9" name="箭头: 右 348">
            <a:extLst>
              <a:ext uri="{FF2B5EF4-FFF2-40B4-BE49-F238E27FC236}">
                <a16:creationId xmlns:a16="http://schemas.microsoft.com/office/drawing/2014/main" id="{51947C97-24AF-E148-A8A7-AD585B7C9A9E}"/>
              </a:ext>
            </a:extLst>
          </p:cNvPr>
          <p:cNvSpPr/>
          <p:nvPr/>
        </p:nvSpPr>
        <p:spPr>
          <a:xfrm>
            <a:off x="7763195" y="662787"/>
            <a:ext cx="1509680" cy="877578"/>
          </a:xfrm>
          <a:prstGeom prst="rightArrow">
            <a:avLst/>
          </a:prstGeom>
          <a:scene3d>
            <a:camera prst="orthographicFront">
              <a:rot lat="2700000" lon="12149948" rev="13500000"/>
            </a:camera>
            <a:lightRig rig="threePt" dir="t"/>
          </a:scene3d>
          <a:sp3d prstMaterial="matte">
            <a:bevelT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组合 55">
            <a:extLst>
              <a:ext uri="{FF2B5EF4-FFF2-40B4-BE49-F238E27FC236}">
                <a16:creationId xmlns:a16="http://schemas.microsoft.com/office/drawing/2014/main" id="{0D1411E9-4FA9-4EF9-473B-9D9760A39013}"/>
              </a:ext>
            </a:extLst>
          </p:cNvPr>
          <p:cNvGrpSpPr/>
          <p:nvPr/>
        </p:nvGrpSpPr>
        <p:grpSpPr>
          <a:xfrm>
            <a:off x="1661726" y="1665660"/>
            <a:ext cx="8640932" cy="4919395"/>
            <a:chOff x="1412" y="3044"/>
            <a:chExt cx="11520" cy="11342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69251A77-881F-7916-6038-79D0EF9017C3}"/>
                </a:ext>
              </a:extLst>
            </p:cNvPr>
            <p:cNvSpPr/>
            <p:nvPr/>
          </p:nvSpPr>
          <p:spPr>
            <a:xfrm>
              <a:off x="3432" y="3044"/>
              <a:ext cx="8723" cy="6099"/>
            </a:xfrm>
            <a:prstGeom prst="rect">
              <a:avLst/>
            </a:prstGeom>
            <a:noFill/>
            <a:ln w="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下箭头 94">
              <a:extLst>
                <a:ext uri="{FF2B5EF4-FFF2-40B4-BE49-F238E27FC236}">
                  <a16:creationId xmlns:a16="http://schemas.microsoft.com/office/drawing/2014/main" id="{77EA2C9A-06D6-D686-B36C-F4B9ABD69E0D}"/>
                </a:ext>
              </a:extLst>
            </p:cNvPr>
            <p:cNvSpPr/>
            <p:nvPr/>
          </p:nvSpPr>
          <p:spPr>
            <a:xfrm>
              <a:off x="7618" y="13437"/>
              <a:ext cx="423" cy="358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E8C59377-EA8E-030F-B8AF-6A64A9B73C41}"/>
                    </a:ext>
                  </a:extLst>
                </p:cNvPr>
                <p:cNvSpPr/>
                <p:nvPr/>
              </p:nvSpPr>
              <p:spPr>
                <a:xfrm>
                  <a:off x="6471" y="3213"/>
                  <a:ext cx="2571" cy="762"/>
                </a:xfrm>
                <a:prstGeom prst="rect">
                  <a:avLst/>
                </a:prstGeom>
                <a:solidFill>
                  <a:srgbClr val="B1CDEC"/>
                </a:solid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𝑝</m:t>
                          </m:r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:</m:t>
                      </m:r>
                    </m:oMath>
                  </a14:m>
                  <a:r>
                    <a:rPr lang="en-US" altLang="zh-CN" sz="1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Annual cargo via elevator port p</a:t>
                  </a:r>
                </a:p>
              </p:txBody>
            </p:sp>
          </mc:Choice>
          <mc:Fallback xmlns=""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1" y="3213"/>
                  <a:ext cx="2571" cy="762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87BF96B8-5A07-BC16-80E8-C6808C4B16FD}"/>
                    </a:ext>
                  </a:extLst>
                </p:cNvPr>
                <p:cNvSpPr/>
                <p:nvPr/>
              </p:nvSpPr>
              <p:spPr>
                <a:xfrm>
                  <a:off x="9493" y="3213"/>
                  <a:ext cx="2381" cy="795"/>
                </a:xfrm>
                <a:prstGeom prst="rect">
                  <a:avLst/>
                </a:prstGeom>
                <a:solidFill>
                  <a:srgbClr val="F6CAAD"/>
                </a:solid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1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:</m:t>
                      </m:r>
                    </m:oMath>
                  </a14:m>
                  <a:r>
                    <a:rPr lang="en-US" altLang="zh-CN" sz="1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Project completion in year t</a:t>
                  </a:r>
                  <a:endParaRPr lang="zh-CN" altLang="en-US" sz="1200" dirty="0"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" y="3213"/>
                  <a:ext cx="2381" cy="795"/>
                </a:xfrm>
                <a:prstGeom prst="rect">
                  <a:avLst/>
                </a:prstGeom>
                <a:blipFill rotWithShape="1">
                  <a:blip r:embed="rId3"/>
                </a:blip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7A484D88-05CB-6503-E2E7-7B2809329EBD}"/>
                    </a:ext>
                  </a:extLst>
                </p:cNvPr>
                <p:cNvSpPr/>
                <p:nvPr/>
              </p:nvSpPr>
              <p:spPr>
                <a:xfrm>
                  <a:off x="3754" y="3213"/>
                  <a:ext cx="2266" cy="771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𝑘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chemeClr val="tx1"/>
                      </a:solidFill>
                    </a:rPr>
                    <a:t>: Annual rocket launches at site k</a:t>
                  </a:r>
                </a:p>
              </p:txBody>
            </p:sp>
          </mc:Choice>
          <mc:Fallback xmlns="">
            <p:sp>
              <p:nvSpPr>
                <p:cNvPr id="42" name="矩形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4" y="3213"/>
                  <a:ext cx="2266" cy="771"/>
                </a:xfrm>
                <a:prstGeom prst="rect">
                  <a:avLst/>
                </a:prstGeom>
                <a:blipFill rotWithShape="1">
                  <a:blip r:embed="rId4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圆角矩形 20">
              <a:extLst>
                <a:ext uri="{FF2B5EF4-FFF2-40B4-BE49-F238E27FC236}">
                  <a16:creationId xmlns:a16="http://schemas.microsoft.com/office/drawing/2014/main" id="{4AEF22BE-2EF1-B2AF-0144-CA8AD66F5ECA}"/>
                </a:ext>
              </a:extLst>
            </p:cNvPr>
            <p:cNvSpPr/>
            <p:nvPr/>
          </p:nvSpPr>
          <p:spPr>
            <a:xfrm>
              <a:off x="3477" y="5059"/>
              <a:ext cx="8561" cy="682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圆角矩形 20">
              <a:extLst>
                <a:ext uri="{FF2B5EF4-FFF2-40B4-BE49-F238E27FC236}">
                  <a16:creationId xmlns:a16="http://schemas.microsoft.com/office/drawing/2014/main" id="{8673B591-0B22-AC17-D0A5-5D1AC5F118FC}"/>
                </a:ext>
              </a:extLst>
            </p:cNvPr>
            <p:cNvSpPr/>
            <p:nvPr/>
          </p:nvSpPr>
          <p:spPr>
            <a:xfrm>
              <a:off x="3670" y="5908"/>
              <a:ext cx="8248" cy="2117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8C01B93-C50E-FB4B-8084-DC70DC2AE0B1}"/>
                    </a:ext>
                  </a:extLst>
                </p:cNvPr>
                <p:cNvSpPr txBox="1"/>
                <p:nvPr/>
              </p:nvSpPr>
              <p:spPr>
                <a:xfrm>
                  <a:off x="2884" y="5772"/>
                  <a:ext cx="10048" cy="3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127000" algn="ctr">
                    <a:buNone/>
                  </a:pPr>
                  <a:r>
                    <a:rPr lang="en-US" altLang="zh-CN" sz="1200" b="1" dirty="0"/>
                    <a:t>Constraints</a:t>
                  </a:r>
                  <a:r>
                    <a:rPr lang="zh-CN" altLang="en-US" sz="1200" dirty="0"/>
                    <a:t>：</a:t>
                  </a:r>
                  <a:endParaRPr lang="en-US" altLang="zh-CN" sz="1200" dirty="0"/>
                </a:p>
                <a:p>
                  <a:pPr indent="127000" algn="just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zh-CN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sup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𝐶𝑎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𝑟𝑜𝑐𝑘𝑒𝑡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)+</m:t>
                        </m:r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)≥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indent="127000" algn="just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𝑙𝑖𝑓𝑡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,∀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,∀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indent="127000" algn="just">
                    <a:lnSpc>
                      <a:spcPct val="15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endParaRPr lang="zh-CN" altLang="en-US" sz="1200" dirty="0"/>
                </a:p>
              </p:txBody>
            </p:sp>
          </mc:Choice>
          <mc:Fallback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8C01B93-C50E-FB4B-8084-DC70DC2AE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4" y="5772"/>
                  <a:ext cx="10048" cy="343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044F4432-D7A0-F7EC-F975-9F27BFA57113}"/>
                    </a:ext>
                  </a:extLst>
                </p:cNvPr>
                <p:cNvSpPr txBox="1"/>
                <p:nvPr/>
              </p:nvSpPr>
              <p:spPr>
                <a:xfrm>
                  <a:off x="3374" y="5193"/>
                  <a:ext cx="8826" cy="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𝐶𝑜𝑠𝑡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𝑟𝑜𝑐𝑘𝑒𝑡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𝐶𝑜𝑠𝑡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𝑙𝑖𝑓𝑡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))</m:t>
                      </m:r>
                    </m:oMath>
                  </a14:m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sz="1200" i="1" kern="100"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sz="1200" i="1" kern="100"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4" y="5193"/>
                  <a:ext cx="8826" cy="62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BAA2EF5C-181E-7B6C-967E-85A4201DD78C}"/>
                </a:ext>
              </a:extLst>
            </p:cNvPr>
            <p:cNvSpPr/>
            <p:nvPr/>
          </p:nvSpPr>
          <p:spPr>
            <a:xfrm>
              <a:off x="4047" y="8215"/>
              <a:ext cx="7525" cy="389"/>
            </a:xfrm>
            <a:prstGeom prst="rect">
              <a:avLst/>
            </a:prstGeom>
            <a:solidFill>
              <a:srgbClr val="D5E9EA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Defines an NP-Hard Mixed-Integer Linear Programming (MILP) problem.</a:t>
              </a:r>
              <a:endParaRPr lang="zh-CN" alt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76FFA736-EBB1-6544-95A4-210371361AF5}"/>
                    </a:ext>
                  </a:extLst>
                </p:cNvPr>
                <p:cNvSpPr txBox="1"/>
                <p:nvPr/>
              </p:nvSpPr>
              <p:spPr>
                <a:xfrm>
                  <a:off x="4020" y="4081"/>
                  <a:ext cx="7200" cy="8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1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1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0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0" y="4081"/>
                  <a:ext cx="7200" cy="86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圆角矩形 20">
              <a:extLst>
                <a:ext uri="{FF2B5EF4-FFF2-40B4-BE49-F238E27FC236}">
                  <a16:creationId xmlns:a16="http://schemas.microsoft.com/office/drawing/2014/main" id="{44F4838C-6F95-A40F-DC6D-7D6BEF3B1227}"/>
                </a:ext>
              </a:extLst>
            </p:cNvPr>
            <p:cNvSpPr/>
            <p:nvPr/>
          </p:nvSpPr>
          <p:spPr>
            <a:xfrm>
              <a:off x="5496" y="4099"/>
              <a:ext cx="4351" cy="721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E7216231-9554-177D-D90A-7D9180045714}"/>
                    </a:ext>
                  </a:extLst>
                </p:cNvPr>
                <p:cNvSpPr/>
                <p:nvPr/>
              </p:nvSpPr>
              <p:spPr>
                <a:xfrm>
                  <a:off x="3747" y="10812"/>
                  <a:ext cx="1407" cy="305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sz="1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矩形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7" y="10812"/>
                  <a:ext cx="1407" cy="305"/>
                </a:xfrm>
                <a:prstGeom prst="rect">
                  <a:avLst/>
                </a:prstGeom>
                <a:blipFill rotWithShape="1">
                  <a:blip r:embed="rId16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30AD11A5-C23F-FB11-3017-548A832E2714}"/>
                    </a:ext>
                  </a:extLst>
                </p:cNvPr>
                <p:cNvSpPr/>
                <p:nvPr/>
              </p:nvSpPr>
              <p:spPr>
                <a:xfrm>
                  <a:off x="3758" y="11320"/>
                  <a:ext cx="1407" cy="305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矩形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8" y="11320"/>
                  <a:ext cx="1407" cy="305"/>
                </a:xfrm>
                <a:prstGeom prst="rect">
                  <a:avLst/>
                </a:prstGeom>
                <a:blipFill rotWithShape="1">
                  <a:blip r:embed="rId17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AC040AA8-08B7-AE8A-06CE-4EB5F8D22673}"/>
                </a:ext>
              </a:extLst>
            </p:cNvPr>
            <p:cNvSpPr/>
            <p:nvPr/>
          </p:nvSpPr>
          <p:spPr>
            <a:xfrm>
              <a:off x="5638" y="10180"/>
              <a:ext cx="1075" cy="2354"/>
            </a:xfrm>
            <a:prstGeom prst="roundRect">
              <a:avLst>
                <a:gd name="adj" fmla="val 0"/>
              </a:avLst>
            </a:prstGeom>
            <a:noFill/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Code-level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Para-meters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AD6FFF4A-B696-3000-A1C4-B161512110CC}"/>
                </a:ext>
              </a:extLst>
            </p:cNvPr>
            <p:cNvSpPr/>
            <p:nvPr/>
          </p:nvSpPr>
          <p:spPr>
            <a:xfrm>
              <a:off x="6927" y="10279"/>
              <a:ext cx="1610" cy="397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POP_SIZE=100</a:t>
              </a: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F2856EB6-EB68-E80A-41BB-33EA55D417F2}"/>
                </a:ext>
              </a:extLst>
            </p:cNvPr>
            <p:cNvSpPr/>
            <p:nvPr/>
          </p:nvSpPr>
          <p:spPr>
            <a:xfrm>
              <a:off x="6927" y="10875"/>
              <a:ext cx="2923" cy="312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MAX_GENERATIONS=1000 </a:t>
              </a: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5652C3A1-EA2C-FD7A-23F2-1C52E76037DC}"/>
                </a:ext>
              </a:extLst>
            </p:cNvPr>
            <p:cNvSpPr/>
            <p:nvPr/>
          </p:nvSpPr>
          <p:spPr>
            <a:xfrm>
              <a:off x="6919" y="12337"/>
              <a:ext cx="2842" cy="348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PENALTY_WEIGHT=1e6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E1949E4-D7B0-7F9A-EDD8-EB8A926561B9}"/>
                </a:ext>
              </a:extLst>
            </p:cNvPr>
            <p:cNvSpPr/>
            <p:nvPr/>
          </p:nvSpPr>
          <p:spPr>
            <a:xfrm>
              <a:off x="6912" y="11300"/>
              <a:ext cx="3473" cy="892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WEIGHT_RANGE=np.linspace(0,1,11)</a:t>
              </a:r>
            </a:p>
          </p:txBody>
        </p:sp>
        <p:sp>
          <p:nvSpPr>
            <p:cNvPr id="84" name="圆角矩形 15">
              <a:extLst>
                <a:ext uri="{FF2B5EF4-FFF2-40B4-BE49-F238E27FC236}">
                  <a16:creationId xmlns:a16="http://schemas.microsoft.com/office/drawing/2014/main" id="{4F751971-D945-E41D-D2E8-398582454479}"/>
                </a:ext>
              </a:extLst>
            </p:cNvPr>
            <p:cNvSpPr/>
            <p:nvPr/>
          </p:nvSpPr>
          <p:spPr>
            <a:xfrm>
              <a:off x="5578" y="9811"/>
              <a:ext cx="4910" cy="3188"/>
            </a:xfrm>
            <a:prstGeom prst="roundRect">
              <a:avLst/>
            </a:prstGeom>
            <a:noFill/>
            <a:ln w="9525">
              <a:solidFill>
                <a:srgbClr val="0070C0">
                  <a:alpha val="72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5" name="圆角矩形 16">
              <a:extLst>
                <a:ext uri="{FF2B5EF4-FFF2-40B4-BE49-F238E27FC236}">
                  <a16:creationId xmlns:a16="http://schemas.microsoft.com/office/drawing/2014/main" id="{4DB27266-CC0D-CFD0-1CA5-14A6D9838892}"/>
                </a:ext>
              </a:extLst>
            </p:cNvPr>
            <p:cNvSpPr/>
            <p:nvPr/>
          </p:nvSpPr>
          <p:spPr>
            <a:xfrm>
              <a:off x="3610" y="10693"/>
              <a:ext cx="1697" cy="1067"/>
            </a:xfrm>
            <a:prstGeom prst="roundRect">
              <a:avLst>
                <a:gd name="adj" fmla="val 14974"/>
              </a:avLst>
            </a:prstGeom>
            <a:noFill/>
            <a:ln w="9525">
              <a:solidFill>
                <a:srgbClr val="0070C0">
                  <a:alpha val="72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圆角矩形 17">
                  <a:extLst>
                    <a:ext uri="{FF2B5EF4-FFF2-40B4-BE49-F238E27FC236}">
                      <a16:creationId xmlns:a16="http://schemas.microsoft.com/office/drawing/2014/main" id="{17D97DF6-27A5-C871-F8CE-56E3657FC96F}"/>
                    </a:ext>
                  </a:extLst>
                </p:cNvPr>
                <p:cNvSpPr/>
                <p:nvPr/>
              </p:nvSpPr>
              <p:spPr>
                <a:xfrm>
                  <a:off x="10863" y="10964"/>
                  <a:ext cx="1259" cy="588"/>
                </a:xfrm>
                <a:prstGeom prst="roundRect">
                  <a:avLst>
                    <a:gd name="adj" fmla="val 14974"/>
                  </a:avLst>
                </a:prstGeom>
                <a:solidFill>
                  <a:srgbClr val="F6CAAD"/>
                </a:solidFill>
                <a:ln w="9525">
                  <a:solidFill>
                    <a:srgbClr val="0070C0">
                      <a:alpha val="72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𝑇𝑜𝑡𝑎𝑙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82" name="圆角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3" y="10964"/>
                  <a:ext cx="1259" cy="588"/>
                </a:xfrm>
                <a:prstGeom prst="roundRect">
                  <a:avLst>
                    <a:gd name="adj" fmla="val 14974"/>
                  </a:avLst>
                </a:prstGeom>
                <a:blipFill rotWithShape="1">
                  <a:blip r:embed="rId18"/>
                </a:blipFill>
                <a:ln w="9525">
                  <a:solidFill>
                    <a:srgbClr val="0070C0">
                      <a:alpha val="72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7356B708-3810-BEDA-B91A-BD81C3F3A896}"/>
                </a:ext>
              </a:extLst>
            </p:cNvPr>
            <p:cNvCxnSpPr/>
            <p:nvPr/>
          </p:nvCxnSpPr>
          <p:spPr>
            <a:xfrm>
              <a:off x="5348" y="11280"/>
              <a:ext cx="282" cy="1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E60FFF14-084C-B9C1-2CA7-651AA7BD0E16}"/>
                </a:ext>
              </a:extLst>
            </p:cNvPr>
            <p:cNvCxnSpPr>
              <a:cxnSpLocks/>
              <a:endCxn id="80" idx="1"/>
            </p:cNvCxnSpPr>
            <p:nvPr/>
          </p:nvCxnSpPr>
          <p:spPr>
            <a:xfrm>
              <a:off x="6707" y="10477"/>
              <a:ext cx="220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0057E1BF-5B65-647F-2C47-3CA1563C0A5C}"/>
                </a:ext>
              </a:extLst>
            </p:cNvPr>
            <p:cNvCxnSpPr>
              <a:cxnSpLocks/>
              <a:endCxn id="81" idx="1"/>
            </p:cNvCxnSpPr>
            <p:nvPr/>
          </p:nvCxnSpPr>
          <p:spPr>
            <a:xfrm>
              <a:off x="6707" y="11031"/>
              <a:ext cx="220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04F2B3E4-DC19-A9D5-1D49-19520D6AC72A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>
              <a:off x="6728" y="11746"/>
              <a:ext cx="184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73BD81C5-8226-05F9-F326-0D000451847B}"/>
                </a:ext>
              </a:extLst>
            </p:cNvPr>
            <p:cNvCxnSpPr/>
            <p:nvPr/>
          </p:nvCxnSpPr>
          <p:spPr>
            <a:xfrm>
              <a:off x="6694" y="12513"/>
              <a:ext cx="227" cy="6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9DDA304C-7D2B-F0C9-DC44-E61E2A5C384B}"/>
                </a:ext>
              </a:extLst>
            </p:cNvPr>
            <p:cNvSpPr/>
            <p:nvPr/>
          </p:nvSpPr>
          <p:spPr>
            <a:xfrm>
              <a:off x="3477" y="9499"/>
              <a:ext cx="8723" cy="3888"/>
            </a:xfrm>
            <a:prstGeom prst="rect">
              <a:avLst/>
            </a:prstGeom>
            <a:noFill/>
            <a:ln w="0">
              <a:solidFill>
                <a:srgbClr val="F6CAAD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FB554DB-7748-7C7B-A9FA-B12861391E27}"/>
                </a:ext>
              </a:extLst>
            </p:cNvPr>
            <p:cNvSpPr/>
            <p:nvPr/>
          </p:nvSpPr>
          <p:spPr>
            <a:xfrm>
              <a:off x="1553" y="5504"/>
              <a:ext cx="1660" cy="590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STEP1:</a:t>
              </a:r>
              <a:b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</a:br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Algorithmic Layer</a:t>
              </a: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5F3418FF-E724-4488-18AE-C83BAF4F4ED4}"/>
                </a:ext>
              </a:extLst>
            </p:cNvPr>
            <p:cNvSpPr/>
            <p:nvPr/>
          </p:nvSpPr>
          <p:spPr>
            <a:xfrm>
              <a:off x="1412" y="10597"/>
              <a:ext cx="1886" cy="497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STEP2:</a:t>
              </a: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Implementation Layer</a:t>
              </a: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6CFE99DB-D775-1511-34DB-68F7B3F1377A}"/>
                </a:ext>
              </a:extLst>
            </p:cNvPr>
            <p:cNvCxnSpPr/>
            <p:nvPr/>
          </p:nvCxnSpPr>
          <p:spPr>
            <a:xfrm>
              <a:off x="2344" y="6163"/>
              <a:ext cx="5" cy="3797"/>
            </a:xfrm>
            <a:prstGeom prst="straightConnector1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肘形连接符 64">
              <a:extLst>
                <a:ext uri="{FF2B5EF4-FFF2-40B4-BE49-F238E27FC236}">
                  <a16:creationId xmlns:a16="http://schemas.microsoft.com/office/drawing/2014/main" id="{C3C20C5D-2E65-F47D-A6C8-14070B158FA6}"/>
                </a:ext>
              </a:extLst>
            </p:cNvPr>
            <p:cNvCxnSpPr/>
            <p:nvPr/>
          </p:nvCxnSpPr>
          <p:spPr>
            <a:xfrm rot="5400000" flipV="1">
              <a:off x="1634" y="11878"/>
              <a:ext cx="2812" cy="1414"/>
            </a:xfrm>
            <a:prstGeom prst="bentConnector2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9" name="缺角矩形 98">
              <a:extLst>
                <a:ext uri="{FF2B5EF4-FFF2-40B4-BE49-F238E27FC236}">
                  <a16:creationId xmlns:a16="http://schemas.microsoft.com/office/drawing/2014/main" id="{5AB52CD1-BEF6-0439-38C4-29B4ED4FD6B7}"/>
                </a:ext>
              </a:extLst>
            </p:cNvPr>
            <p:cNvSpPr/>
            <p:nvPr/>
          </p:nvSpPr>
          <p:spPr>
            <a:xfrm>
              <a:off x="3965" y="13810"/>
              <a:ext cx="7748" cy="576"/>
            </a:xfrm>
            <a:prstGeom prst="plaqu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Hybrid Transportation System is the Optimized Solution</a:t>
              </a: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3F212683-8F6E-F8CA-D769-11127D5F354D}"/>
                </a:ext>
              </a:extLst>
            </p:cNvPr>
            <p:cNvCxnSpPr/>
            <p:nvPr/>
          </p:nvCxnSpPr>
          <p:spPr>
            <a:xfrm>
              <a:off x="10548" y="11280"/>
              <a:ext cx="282" cy="1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1" name="下箭头 94">
              <a:extLst>
                <a:ext uri="{FF2B5EF4-FFF2-40B4-BE49-F238E27FC236}">
                  <a16:creationId xmlns:a16="http://schemas.microsoft.com/office/drawing/2014/main" id="{BA2FDECD-B1BE-7B3A-242C-DBDAE8657AAF}"/>
                </a:ext>
              </a:extLst>
            </p:cNvPr>
            <p:cNvSpPr/>
            <p:nvPr/>
          </p:nvSpPr>
          <p:spPr>
            <a:xfrm>
              <a:off x="7628" y="9175"/>
              <a:ext cx="363" cy="335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下箭头 94">
              <a:extLst>
                <a:ext uri="{FF2B5EF4-FFF2-40B4-BE49-F238E27FC236}">
                  <a16:creationId xmlns:a16="http://schemas.microsoft.com/office/drawing/2014/main" id="{18D101C8-F3FC-39E0-213A-22AD206F239D}"/>
                </a:ext>
              </a:extLst>
            </p:cNvPr>
            <p:cNvSpPr/>
            <p:nvPr/>
          </p:nvSpPr>
          <p:spPr>
            <a:xfrm>
              <a:off x="7628" y="8025"/>
              <a:ext cx="363" cy="335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3632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25B26EA5-3D03-794C-DAC3-F8128615CC90}"/>
              </a:ext>
            </a:extLst>
          </p:cNvPr>
          <p:cNvGrpSpPr/>
          <p:nvPr/>
        </p:nvGrpSpPr>
        <p:grpSpPr>
          <a:xfrm>
            <a:off x="1354053" y="1507067"/>
            <a:ext cx="3937781" cy="4436533"/>
            <a:chOff x="1362519" y="1481667"/>
            <a:chExt cx="3937781" cy="4436533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E7A19F8-BB78-2D98-FB80-C9AA7D7F721E}"/>
                </a:ext>
              </a:extLst>
            </p:cNvPr>
            <p:cNvGrpSpPr/>
            <p:nvPr/>
          </p:nvGrpSpPr>
          <p:grpSpPr>
            <a:xfrm>
              <a:off x="1362519" y="1481667"/>
              <a:ext cx="3937781" cy="4436533"/>
              <a:chOff x="1220433" y="2758161"/>
              <a:chExt cx="2902744" cy="3340018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6F615C4-C090-D7CF-17B9-BFBFF9B3DA06}"/>
                  </a:ext>
                </a:extLst>
              </p:cNvPr>
              <p:cNvSpPr txBox="1"/>
              <p:nvPr/>
            </p:nvSpPr>
            <p:spPr>
              <a:xfrm>
                <a:off x="1220433" y="2758161"/>
                <a:ext cx="2762885" cy="2877185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noAutofit/>
              </a:bodyPr>
              <a:lstStyle/>
              <a:p>
                <a:r>
                  <a:rPr lang="en-US" altLang="zh-CN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Multi-Objective optimization</a:t>
                </a:r>
              </a:p>
            </p:txBody>
          </p: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3F3631EE-6DFD-47B7-D791-D28CFD527A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83415" y="5725160"/>
                <a:ext cx="439762" cy="373019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弧形 4">
                <a:extLst>
                  <a:ext uri="{FF2B5EF4-FFF2-40B4-BE49-F238E27FC236}">
                    <a16:creationId xmlns:a16="http://schemas.microsoft.com/office/drawing/2014/main" id="{FEC25A66-4341-9BDC-E15C-C508966EB450}"/>
                  </a:ext>
                </a:extLst>
              </p:cNvPr>
              <p:cNvSpPr/>
              <p:nvPr/>
            </p:nvSpPr>
            <p:spPr>
              <a:xfrm rot="10800000">
                <a:off x="3581400" y="5773207"/>
                <a:ext cx="178595" cy="324972"/>
              </a:xfrm>
              <a:prstGeom prst="arc">
                <a:avLst>
                  <a:gd name="adj1" fmla="val 15760750"/>
                  <a:gd name="adj2" fmla="val 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弧形 5">
                <a:extLst>
                  <a:ext uri="{FF2B5EF4-FFF2-40B4-BE49-F238E27FC236}">
                    <a16:creationId xmlns:a16="http://schemas.microsoft.com/office/drawing/2014/main" id="{82478772-6B68-0ECE-0D41-7CF2FE0C3BDD}"/>
                  </a:ext>
                </a:extLst>
              </p:cNvPr>
              <p:cNvSpPr/>
              <p:nvPr/>
            </p:nvSpPr>
            <p:spPr>
              <a:xfrm rot="10800000">
                <a:off x="1622617" y="4633922"/>
                <a:ext cx="178595" cy="324972"/>
              </a:xfrm>
              <a:prstGeom prst="arc">
                <a:avLst>
                  <a:gd name="adj1" fmla="val 16701408"/>
                  <a:gd name="adj2" fmla="val 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78543459-34B8-655C-41C7-898D58DEC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070" y="4953000"/>
                <a:ext cx="1973470" cy="114517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0EF96A5F-49F8-93E0-D4E0-FD65007973BF}"/>
                  </a:ext>
                </a:extLst>
              </p:cNvPr>
              <p:cNvCxnSpPr/>
              <p:nvPr/>
            </p:nvCxnSpPr>
            <p:spPr>
              <a:xfrm flipH="1" flipV="1">
                <a:off x="3581400" y="5400040"/>
                <a:ext cx="538480" cy="3251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图片 9" descr="图形用户界面, 文本, 应用程序&#10;&#10;AI 生成的内容可能不正确。">
              <a:extLst>
                <a:ext uri="{FF2B5EF4-FFF2-40B4-BE49-F238E27FC236}">
                  <a16:creationId xmlns:a16="http://schemas.microsoft.com/office/drawing/2014/main" id="{A5B90633-7471-D046-BE27-0DA12E37D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0249" y="2074681"/>
              <a:ext cx="3692592" cy="3132112"/>
            </a:xfrm>
            <a:prstGeom prst="rect">
              <a:avLst/>
            </a:prstGeom>
            <a:scene3d>
              <a:camera prst="isometricLeftDown"/>
              <a:lightRig rig="threePt" dir="t"/>
            </a:scene3d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C437889-3480-01E3-7277-EDC5EA44D9B5}"/>
              </a:ext>
            </a:extLst>
          </p:cNvPr>
          <p:cNvGrpSpPr/>
          <p:nvPr/>
        </p:nvGrpSpPr>
        <p:grpSpPr>
          <a:xfrm>
            <a:off x="4365284" y="1625807"/>
            <a:ext cx="3937781" cy="4436533"/>
            <a:chOff x="1362519" y="1481667"/>
            <a:chExt cx="3937781" cy="443653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D483D33-5E12-5EFF-CFD0-E8A1B7630241}"/>
                </a:ext>
              </a:extLst>
            </p:cNvPr>
            <p:cNvGrpSpPr/>
            <p:nvPr/>
          </p:nvGrpSpPr>
          <p:grpSpPr>
            <a:xfrm>
              <a:off x="1362519" y="1481667"/>
              <a:ext cx="3937781" cy="4436533"/>
              <a:chOff x="1220433" y="2758161"/>
              <a:chExt cx="2902744" cy="3340018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0121AE5-7F87-28BB-80A3-4EE0BDC5812F}"/>
                  </a:ext>
                </a:extLst>
              </p:cNvPr>
              <p:cNvSpPr txBox="1"/>
              <p:nvPr/>
            </p:nvSpPr>
            <p:spPr>
              <a:xfrm>
                <a:off x="1220433" y="2758161"/>
                <a:ext cx="2762885" cy="2877185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  <a:scene3d>
                <a:camera prst="isometricLeftDown"/>
                <a:lightRig rig="threePt" dir="t"/>
              </a:scene3d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wrap="square" rtlCol="0">
                <a:noAutofit/>
              </a:bodyPr>
              <a:lstStyle/>
              <a:p>
                <a:r>
                  <a:rPr lang="en-US" altLang="zh-CN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Multi-Objective optimization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A3C28309-A66E-8227-8009-D659932E61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83415" y="5725160"/>
                <a:ext cx="439762" cy="373019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弧形 16">
                <a:extLst>
                  <a:ext uri="{FF2B5EF4-FFF2-40B4-BE49-F238E27FC236}">
                    <a16:creationId xmlns:a16="http://schemas.microsoft.com/office/drawing/2014/main" id="{FC288EDE-A888-FCEB-A703-30C759F6D72E}"/>
                  </a:ext>
                </a:extLst>
              </p:cNvPr>
              <p:cNvSpPr/>
              <p:nvPr/>
            </p:nvSpPr>
            <p:spPr>
              <a:xfrm rot="10800000">
                <a:off x="3581400" y="5773207"/>
                <a:ext cx="178595" cy="324972"/>
              </a:xfrm>
              <a:prstGeom prst="arc">
                <a:avLst>
                  <a:gd name="adj1" fmla="val 15760750"/>
                  <a:gd name="adj2" fmla="val 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弧形 17">
                <a:extLst>
                  <a:ext uri="{FF2B5EF4-FFF2-40B4-BE49-F238E27FC236}">
                    <a16:creationId xmlns:a16="http://schemas.microsoft.com/office/drawing/2014/main" id="{4A15FAA7-AF08-F552-64A8-F7D0B7D33517}"/>
                  </a:ext>
                </a:extLst>
              </p:cNvPr>
              <p:cNvSpPr/>
              <p:nvPr/>
            </p:nvSpPr>
            <p:spPr>
              <a:xfrm rot="10800000">
                <a:off x="1622617" y="4633922"/>
                <a:ext cx="178595" cy="324972"/>
              </a:xfrm>
              <a:prstGeom prst="arc">
                <a:avLst>
                  <a:gd name="adj1" fmla="val 16701408"/>
                  <a:gd name="adj2" fmla="val 0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5C25FB73-BAAC-AD31-EF43-1346ED9435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5070" y="4953000"/>
                <a:ext cx="1973470" cy="1145179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9813C32-3285-D12C-2BA8-6344FCEFE478}"/>
                  </a:ext>
                </a:extLst>
              </p:cNvPr>
              <p:cNvCxnSpPr/>
              <p:nvPr/>
            </p:nvCxnSpPr>
            <p:spPr>
              <a:xfrm flipH="1" flipV="1">
                <a:off x="3581400" y="5400040"/>
                <a:ext cx="538480" cy="325120"/>
              </a:xfrm>
              <a:prstGeom prst="line">
                <a:avLst/>
              </a:prstGeom>
              <a:ln w="63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图片 13" descr="图形用户界面, 文本, 应用程序&#10;&#10;AI 生成的内容可能不正确。">
              <a:extLst>
                <a:ext uri="{FF2B5EF4-FFF2-40B4-BE49-F238E27FC236}">
                  <a16:creationId xmlns:a16="http://schemas.microsoft.com/office/drawing/2014/main" id="{ED822083-E19E-8D4D-266D-3D933F2FC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0249" y="2074681"/>
              <a:ext cx="3692592" cy="3132112"/>
            </a:xfrm>
            <a:prstGeom prst="rect">
              <a:avLst/>
            </a:prstGeom>
            <a:scene3d>
              <a:camera prst="isometricLeftDown"/>
              <a:lightRig rig="threePt" dir="t"/>
            </a:scene3d>
          </p:spPr>
        </p:pic>
      </p:grpSp>
    </p:spTree>
    <p:extLst>
      <p:ext uri="{BB962C8B-B14F-4D97-AF65-F5344CB8AC3E}">
        <p14:creationId xmlns:p14="http://schemas.microsoft.com/office/powerpoint/2010/main" val="208051851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</Words>
  <Application>Microsoft Office PowerPoint</Application>
  <PresentationFormat>宽屏</PresentationFormat>
  <Paragraphs>28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</vt:lpstr>
      <vt:lpstr>Calibri</vt:lpstr>
      <vt:lpstr>Cambria Math</vt:lpstr>
      <vt:lpstr>Cascadia Code</vt:lpstr>
      <vt:lpstr>Times New Roman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qq190</dc:creator>
  <cp:lastModifiedBy>昊冉 宋</cp:lastModifiedBy>
  <cp:revision>5</cp:revision>
  <dcterms:created xsi:type="dcterms:W3CDTF">2023-08-09T12:44:00Z</dcterms:created>
  <dcterms:modified xsi:type="dcterms:W3CDTF">2026-02-02T07:31:12Z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4BF6E7A8E10D4000B6AA1858AA6ABCD9_12</vt:lpwstr>
  </property>
</Properties>
</file>