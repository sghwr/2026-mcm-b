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2.svg" ContentType="image/svg+xml"/>
  <Override PartName="/ppt/media/image20.svg" ContentType="image/svg+xml"/>
  <Override PartName="/ppt/media/image33.svg" ContentType="image/svg+xml"/>
  <Override PartName="/ppt/media/image4.svg" ContentType="image/svg+xml"/>
  <Override PartName="/ppt/media/image45.svg" ContentType="image/svg+xml"/>
  <Override PartName="/ppt/media/image46.svg" ContentType="image/svg+xml"/>
  <Override PartName="/ppt/media/image48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8" r:id="rId3"/>
    <p:sldId id="288" r:id="rId4"/>
    <p:sldId id="256" r:id="rId5"/>
    <p:sldId id="285" r:id="rId7"/>
    <p:sldId id="286" r:id="rId8"/>
    <p:sldId id="259" r:id="rId9"/>
    <p:sldId id="260" r:id="rId10"/>
    <p:sldId id="261" r:id="rId11"/>
    <p:sldId id="262" r:id="rId12"/>
    <p:sldId id="275" r:id="rId13"/>
    <p:sldId id="264" r:id="rId14"/>
    <p:sldId id="287" r:id="rId15"/>
    <p:sldId id="269" r:id="rId16"/>
    <p:sldId id="270" r:id="rId17"/>
    <p:sldId id="282" r:id="rId18"/>
    <p:sldId id="283" r:id="rId19"/>
    <p:sldId id="284" r:id="rId20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1" userDrawn="1">
          <p15:clr>
            <a:srgbClr val="A4A3A4"/>
          </p15:clr>
        </p15:guide>
        <p15:guide id="2" pos="28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912" initials="9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CAAD"/>
    <a:srgbClr val="BBD6A5"/>
    <a:srgbClr val="BADDF3"/>
    <a:srgbClr val="D5E9EA"/>
    <a:srgbClr val="FBFBFB"/>
    <a:srgbClr val="F39B7E"/>
    <a:srgbClr val="F6C572"/>
    <a:srgbClr val="7F9D44"/>
    <a:srgbClr val="9BBB58"/>
    <a:srgbClr val="F57B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 showGuides="1">
      <p:cViewPr>
        <p:scale>
          <a:sx n="60" d="100"/>
          <a:sy n="60" d="100"/>
        </p:scale>
        <p:origin x="1156" y="812"/>
      </p:cViewPr>
      <p:guideLst>
        <p:guide orient="horz" pos="2201"/>
        <p:guide pos="28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gs" Target="tags/tag29.xml"/><Relationship Id="rId24" Type="http://schemas.openxmlformats.org/officeDocument/2006/relationships/commentAuthors" Target="commentAuthors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svg"/><Relationship Id="rId8" Type="http://schemas.openxmlformats.org/officeDocument/2006/relationships/image" Target="../media/image5.png"/><Relationship Id="rId7" Type="http://schemas.openxmlformats.org/officeDocument/2006/relationships/tags" Target="../tags/tag3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tags" Target="../tags/tag2.xml"/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0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13.png"/><Relationship Id="rId7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9" Type="http://schemas.openxmlformats.org/officeDocument/2006/relationships/slideLayout" Target="../slideLayouts/slideLayout2.xml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2.svg"/><Relationship Id="rId14" Type="http://schemas.openxmlformats.org/officeDocument/2006/relationships/image" Target="../media/image15.png"/><Relationship Id="rId13" Type="http://schemas.openxmlformats.org/officeDocument/2006/relationships/tags" Target="../tags/tag6.xml"/><Relationship Id="rId12" Type="http://schemas.openxmlformats.org/officeDocument/2006/relationships/image" Target="../media/image6.svg"/><Relationship Id="rId11" Type="http://schemas.openxmlformats.org/officeDocument/2006/relationships/image" Target="../media/image14.png"/><Relationship Id="rId10" Type="http://schemas.openxmlformats.org/officeDocument/2006/relationships/tags" Target="../tags/tag5.xml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tags" Target="../tags/tag11.xml"/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image" Target="../media/image6.svg"/><Relationship Id="rId21" Type="http://schemas.openxmlformats.org/officeDocument/2006/relationships/notesSlide" Target="../notesSlides/notesSlide1.xml"/><Relationship Id="rId20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19" Type="http://schemas.openxmlformats.org/officeDocument/2006/relationships/image" Target="../media/image2.svg"/><Relationship Id="rId18" Type="http://schemas.openxmlformats.org/officeDocument/2006/relationships/image" Target="../media/image1.png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image" Target="../media/image4.svg"/><Relationship Id="rId14" Type="http://schemas.openxmlformats.org/officeDocument/2006/relationships/image" Target="../media/image3.png"/><Relationship Id="rId13" Type="http://schemas.openxmlformats.org/officeDocument/2006/relationships/tags" Target="../tags/tag15.xml"/><Relationship Id="rId12" Type="http://schemas.openxmlformats.org/officeDocument/2006/relationships/tags" Target="../tags/tag14.xml"/><Relationship Id="rId11" Type="http://schemas.openxmlformats.org/officeDocument/2006/relationships/tags" Target="../tags/tag13.xml"/><Relationship Id="rId10" Type="http://schemas.openxmlformats.org/officeDocument/2006/relationships/tags" Target="../tags/tag12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4" Type="http://schemas.openxmlformats.org/officeDocument/2006/relationships/notesSlide" Target="../notesSlides/notesSlide2.xml"/><Relationship Id="rId13" Type="http://schemas.openxmlformats.org/officeDocument/2006/relationships/slideLayout" Target="../slideLayouts/slideLayout1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8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26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9" Type="http://schemas.openxmlformats.org/officeDocument/2006/relationships/slideLayout" Target="../slideLayouts/slideLayout7.xml"/><Relationship Id="rId18" Type="http://schemas.openxmlformats.org/officeDocument/2006/relationships/image" Target="../media/image29.png"/><Relationship Id="rId17" Type="http://schemas.openxmlformats.org/officeDocument/2006/relationships/image" Target="../media/image28.png"/><Relationship Id="rId16" Type="http://schemas.openxmlformats.org/officeDocument/2006/relationships/image" Target="../media/image27.png"/><Relationship Id="rId15" Type="http://schemas.openxmlformats.org/officeDocument/2006/relationships/image" Target="../media/image2.svg"/><Relationship Id="rId14" Type="http://schemas.openxmlformats.org/officeDocument/2006/relationships/image" Target="../media/image1.png"/><Relationship Id="rId13" Type="http://schemas.openxmlformats.org/officeDocument/2006/relationships/tags" Target="../tags/tag28.xml"/><Relationship Id="rId12" Type="http://schemas.openxmlformats.org/officeDocument/2006/relationships/image" Target="../media/image6.svg"/><Relationship Id="rId11" Type="http://schemas.openxmlformats.org/officeDocument/2006/relationships/image" Target="../media/image5.png"/><Relationship Id="rId10" Type="http://schemas.openxmlformats.org/officeDocument/2006/relationships/tags" Target="../tags/tag27.xml"/><Relationship Id="rId1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4.jpe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1.png"/><Relationship Id="rId1" Type="http://schemas.openxmlformats.org/officeDocument/2006/relationships/image" Target="../media/image4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2.jpe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3.jpeg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46.svg"/><Relationship Id="rId2" Type="http://schemas.openxmlformats.org/officeDocument/2006/relationships/image" Target="../media/image45.svg"/><Relationship Id="rId1" Type="http://schemas.openxmlformats.org/officeDocument/2006/relationships/image" Target="../media/image4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arth_44386"/>
          <p:cNvSpPr/>
          <p:nvPr/>
        </p:nvSpPr>
        <p:spPr>
          <a:xfrm>
            <a:off x="5971108" y="1897357"/>
            <a:ext cx="710009" cy="698264"/>
          </a:xfrm>
          <a:custGeom>
            <a:avLst/>
            <a:gdLst>
              <a:gd name="T0" fmla="*/ 199 w 397"/>
              <a:gd name="T1" fmla="*/ 0 h 397"/>
              <a:gd name="T2" fmla="*/ 0 w 397"/>
              <a:gd name="T3" fmla="*/ 199 h 397"/>
              <a:gd name="T4" fmla="*/ 199 w 397"/>
              <a:gd name="T5" fmla="*/ 397 h 397"/>
              <a:gd name="T6" fmla="*/ 397 w 397"/>
              <a:gd name="T7" fmla="*/ 199 h 397"/>
              <a:gd name="T8" fmla="*/ 199 w 397"/>
              <a:gd name="T9" fmla="*/ 0 h 397"/>
              <a:gd name="T10" fmla="*/ 57 w 397"/>
              <a:gd name="T11" fmla="*/ 190 h 397"/>
              <a:gd name="T12" fmla="*/ 46 w 397"/>
              <a:gd name="T13" fmla="*/ 180 h 397"/>
              <a:gd name="T14" fmla="*/ 57 w 397"/>
              <a:gd name="T15" fmla="*/ 169 h 397"/>
              <a:gd name="T16" fmla="*/ 68 w 397"/>
              <a:gd name="T17" fmla="*/ 180 h 397"/>
              <a:gd name="T18" fmla="*/ 57 w 397"/>
              <a:gd name="T19" fmla="*/ 190 h 397"/>
              <a:gd name="T20" fmla="*/ 117 w 397"/>
              <a:gd name="T21" fmla="*/ 201 h 397"/>
              <a:gd name="T22" fmla="*/ 106 w 397"/>
              <a:gd name="T23" fmla="*/ 190 h 397"/>
              <a:gd name="T24" fmla="*/ 117 w 397"/>
              <a:gd name="T25" fmla="*/ 180 h 397"/>
              <a:gd name="T26" fmla="*/ 128 w 397"/>
              <a:gd name="T27" fmla="*/ 190 h 397"/>
              <a:gd name="T28" fmla="*/ 117 w 397"/>
              <a:gd name="T29" fmla="*/ 201 h 397"/>
              <a:gd name="T30" fmla="*/ 161 w 397"/>
              <a:gd name="T31" fmla="*/ 302 h 397"/>
              <a:gd name="T32" fmla="*/ 139 w 397"/>
              <a:gd name="T33" fmla="*/ 280 h 397"/>
              <a:gd name="T34" fmla="*/ 161 w 397"/>
              <a:gd name="T35" fmla="*/ 258 h 397"/>
              <a:gd name="T36" fmla="*/ 182 w 397"/>
              <a:gd name="T37" fmla="*/ 280 h 397"/>
              <a:gd name="T38" fmla="*/ 161 w 397"/>
              <a:gd name="T39" fmla="*/ 302 h 397"/>
              <a:gd name="T40" fmla="*/ 161 w 397"/>
              <a:gd name="T41" fmla="*/ 98 h 397"/>
              <a:gd name="T42" fmla="*/ 139 w 397"/>
              <a:gd name="T43" fmla="*/ 76 h 397"/>
              <a:gd name="T44" fmla="*/ 161 w 397"/>
              <a:gd name="T45" fmla="*/ 54 h 397"/>
              <a:gd name="T46" fmla="*/ 182 w 397"/>
              <a:gd name="T47" fmla="*/ 76 h 397"/>
              <a:gd name="T48" fmla="*/ 161 w 397"/>
              <a:gd name="T49" fmla="*/ 98 h 397"/>
              <a:gd name="T50" fmla="*/ 320 w 397"/>
              <a:gd name="T51" fmla="*/ 112 h 397"/>
              <a:gd name="T52" fmla="*/ 329 w 397"/>
              <a:gd name="T53" fmla="*/ 121 h 397"/>
              <a:gd name="T54" fmla="*/ 320 w 397"/>
              <a:gd name="T55" fmla="*/ 131 h 397"/>
              <a:gd name="T56" fmla="*/ 310 w 397"/>
              <a:gd name="T57" fmla="*/ 121 h 397"/>
              <a:gd name="T58" fmla="*/ 320 w 397"/>
              <a:gd name="T59" fmla="*/ 112 h 397"/>
              <a:gd name="T60" fmla="*/ 210 w 397"/>
              <a:gd name="T61" fmla="*/ 190 h 397"/>
              <a:gd name="T62" fmla="*/ 199 w 397"/>
              <a:gd name="T63" fmla="*/ 180 h 397"/>
              <a:gd name="T64" fmla="*/ 210 w 397"/>
              <a:gd name="T65" fmla="*/ 169 h 397"/>
              <a:gd name="T66" fmla="*/ 220 w 397"/>
              <a:gd name="T67" fmla="*/ 180 h 397"/>
              <a:gd name="T68" fmla="*/ 210 w 397"/>
              <a:gd name="T69" fmla="*/ 190 h 397"/>
              <a:gd name="T70" fmla="*/ 239 w 397"/>
              <a:gd name="T71" fmla="*/ 67 h 397"/>
              <a:gd name="T72" fmla="*/ 252 w 397"/>
              <a:gd name="T73" fmla="*/ 54 h 397"/>
              <a:gd name="T74" fmla="*/ 264 w 397"/>
              <a:gd name="T75" fmla="*/ 67 h 397"/>
              <a:gd name="T76" fmla="*/ 252 w 397"/>
              <a:gd name="T77" fmla="*/ 79 h 397"/>
              <a:gd name="T78" fmla="*/ 239 w 397"/>
              <a:gd name="T79" fmla="*/ 67 h 397"/>
              <a:gd name="T80" fmla="*/ 266 w 397"/>
              <a:gd name="T81" fmla="*/ 331 h 397"/>
              <a:gd name="T82" fmla="*/ 252 w 397"/>
              <a:gd name="T83" fmla="*/ 316 h 397"/>
              <a:gd name="T84" fmla="*/ 266 w 397"/>
              <a:gd name="T85" fmla="*/ 302 h 397"/>
              <a:gd name="T86" fmla="*/ 280 w 397"/>
              <a:gd name="T87" fmla="*/ 316 h 397"/>
              <a:gd name="T88" fmla="*/ 266 w 397"/>
              <a:gd name="T89" fmla="*/ 331 h 397"/>
              <a:gd name="T90" fmla="*/ 272 w 397"/>
              <a:gd name="T91" fmla="*/ 258 h 397"/>
              <a:gd name="T92" fmla="*/ 264 w 397"/>
              <a:gd name="T93" fmla="*/ 250 h 397"/>
              <a:gd name="T94" fmla="*/ 272 w 397"/>
              <a:gd name="T95" fmla="*/ 242 h 397"/>
              <a:gd name="T96" fmla="*/ 280 w 397"/>
              <a:gd name="T97" fmla="*/ 250 h 397"/>
              <a:gd name="T98" fmla="*/ 272 w 397"/>
              <a:gd name="T99" fmla="*/ 258 h 397"/>
              <a:gd name="T100" fmla="*/ 328 w 397"/>
              <a:gd name="T101" fmla="*/ 215 h 397"/>
              <a:gd name="T102" fmla="*/ 310 w 397"/>
              <a:gd name="T103" fmla="*/ 197 h 397"/>
              <a:gd name="T104" fmla="*/ 328 w 397"/>
              <a:gd name="T105" fmla="*/ 180 h 397"/>
              <a:gd name="T106" fmla="*/ 346 w 397"/>
              <a:gd name="T107" fmla="*/ 197 h 397"/>
              <a:gd name="T108" fmla="*/ 328 w 397"/>
              <a:gd name="T109" fmla="*/ 215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97" h="397">
                <a:moveTo>
                  <a:pt x="199" y="0"/>
                </a:moveTo>
                <a:cubicBezTo>
                  <a:pt x="89" y="0"/>
                  <a:pt x="0" y="89"/>
                  <a:pt x="0" y="199"/>
                </a:cubicBezTo>
                <a:cubicBezTo>
                  <a:pt x="0" y="308"/>
                  <a:pt x="89" y="397"/>
                  <a:pt x="199" y="397"/>
                </a:cubicBezTo>
                <a:cubicBezTo>
                  <a:pt x="308" y="397"/>
                  <a:pt x="397" y="308"/>
                  <a:pt x="397" y="199"/>
                </a:cubicBezTo>
                <a:cubicBezTo>
                  <a:pt x="397" y="89"/>
                  <a:pt x="308" y="0"/>
                  <a:pt x="199" y="0"/>
                </a:cubicBezTo>
                <a:close/>
                <a:moveTo>
                  <a:pt x="57" y="190"/>
                </a:moveTo>
                <a:cubicBezTo>
                  <a:pt x="51" y="190"/>
                  <a:pt x="46" y="186"/>
                  <a:pt x="46" y="180"/>
                </a:cubicBezTo>
                <a:cubicBezTo>
                  <a:pt x="46" y="174"/>
                  <a:pt x="51" y="169"/>
                  <a:pt x="57" y="169"/>
                </a:cubicBezTo>
                <a:cubicBezTo>
                  <a:pt x="63" y="169"/>
                  <a:pt x="68" y="174"/>
                  <a:pt x="68" y="180"/>
                </a:cubicBezTo>
                <a:cubicBezTo>
                  <a:pt x="68" y="186"/>
                  <a:pt x="63" y="190"/>
                  <a:pt x="57" y="190"/>
                </a:cubicBezTo>
                <a:close/>
                <a:moveTo>
                  <a:pt x="117" y="201"/>
                </a:moveTo>
                <a:cubicBezTo>
                  <a:pt x="111" y="201"/>
                  <a:pt x="106" y="196"/>
                  <a:pt x="106" y="190"/>
                </a:cubicBezTo>
                <a:cubicBezTo>
                  <a:pt x="106" y="184"/>
                  <a:pt x="111" y="180"/>
                  <a:pt x="117" y="180"/>
                </a:cubicBezTo>
                <a:cubicBezTo>
                  <a:pt x="123" y="180"/>
                  <a:pt x="128" y="184"/>
                  <a:pt x="128" y="190"/>
                </a:cubicBezTo>
                <a:cubicBezTo>
                  <a:pt x="128" y="196"/>
                  <a:pt x="123" y="201"/>
                  <a:pt x="117" y="201"/>
                </a:cubicBezTo>
                <a:close/>
                <a:moveTo>
                  <a:pt x="161" y="302"/>
                </a:moveTo>
                <a:cubicBezTo>
                  <a:pt x="149" y="302"/>
                  <a:pt x="139" y="292"/>
                  <a:pt x="139" y="280"/>
                </a:cubicBezTo>
                <a:cubicBezTo>
                  <a:pt x="139" y="268"/>
                  <a:pt x="149" y="258"/>
                  <a:pt x="161" y="258"/>
                </a:cubicBezTo>
                <a:cubicBezTo>
                  <a:pt x="173" y="258"/>
                  <a:pt x="182" y="268"/>
                  <a:pt x="182" y="280"/>
                </a:cubicBezTo>
                <a:cubicBezTo>
                  <a:pt x="182" y="292"/>
                  <a:pt x="173" y="302"/>
                  <a:pt x="161" y="302"/>
                </a:cubicBezTo>
                <a:close/>
                <a:moveTo>
                  <a:pt x="161" y="98"/>
                </a:moveTo>
                <a:cubicBezTo>
                  <a:pt x="149" y="98"/>
                  <a:pt x="139" y="88"/>
                  <a:pt x="139" y="76"/>
                </a:cubicBezTo>
                <a:cubicBezTo>
                  <a:pt x="139" y="64"/>
                  <a:pt x="149" y="54"/>
                  <a:pt x="161" y="54"/>
                </a:cubicBezTo>
                <a:cubicBezTo>
                  <a:pt x="173" y="54"/>
                  <a:pt x="182" y="64"/>
                  <a:pt x="182" y="76"/>
                </a:cubicBezTo>
                <a:cubicBezTo>
                  <a:pt x="182" y="88"/>
                  <a:pt x="173" y="98"/>
                  <a:pt x="161" y="98"/>
                </a:cubicBezTo>
                <a:close/>
                <a:moveTo>
                  <a:pt x="320" y="112"/>
                </a:moveTo>
                <a:cubicBezTo>
                  <a:pt x="325" y="112"/>
                  <a:pt x="329" y="116"/>
                  <a:pt x="329" y="121"/>
                </a:cubicBezTo>
                <a:cubicBezTo>
                  <a:pt x="329" y="126"/>
                  <a:pt x="325" y="131"/>
                  <a:pt x="320" y="131"/>
                </a:cubicBezTo>
                <a:cubicBezTo>
                  <a:pt x="314" y="131"/>
                  <a:pt x="310" y="126"/>
                  <a:pt x="310" y="121"/>
                </a:cubicBezTo>
                <a:cubicBezTo>
                  <a:pt x="310" y="116"/>
                  <a:pt x="314" y="112"/>
                  <a:pt x="320" y="112"/>
                </a:cubicBezTo>
                <a:close/>
                <a:moveTo>
                  <a:pt x="210" y="190"/>
                </a:moveTo>
                <a:cubicBezTo>
                  <a:pt x="204" y="190"/>
                  <a:pt x="199" y="186"/>
                  <a:pt x="199" y="180"/>
                </a:cubicBezTo>
                <a:cubicBezTo>
                  <a:pt x="199" y="174"/>
                  <a:pt x="204" y="169"/>
                  <a:pt x="210" y="169"/>
                </a:cubicBezTo>
                <a:cubicBezTo>
                  <a:pt x="216" y="169"/>
                  <a:pt x="220" y="174"/>
                  <a:pt x="220" y="180"/>
                </a:cubicBezTo>
                <a:cubicBezTo>
                  <a:pt x="220" y="186"/>
                  <a:pt x="216" y="190"/>
                  <a:pt x="210" y="190"/>
                </a:cubicBezTo>
                <a:close/>
                <a:moveTo>
                  <a:pt x="239" y="67"/>
                </a:moveTo>
                <a:cubicBezTo>
                  <a:pt x="239" y="60"/>
                  <a:pt x="245" y="54"/>
                  <a:pt x="252" y="54"/>
                </a:cubicBezTo>
                <a:cubicBezTo>
                  <a:pt x="258" y="54"/>
                  <a:pt x="264" y="60"/>
                  <a:pt x="264" y="67"/>
                </a:cubicBezTo>
                <a:cubicBezTo>
                  <a:pt x="264" y="73"/>
                  <a:pt x="258" y="79"/>
                  <a:pt x="252" y="79"/>
                </a:cubicBezTo>
                <a:cubicBezTo>
                  <a:pt x="245" y="79"/>
                  <a:pt x="239" y="73"/>
                  <a:pt x="239" y="67"/>
                </a:cubicBezTo>
                <a:close/>
                <a:moveTo>
                  <a:pt x="266" y="331"/>
                </a:moveTo>
                <a:cubicBezTo>
                  <a:pt x="258" y="331"/>
                  <a:pt x="252" y="324"/>
                  <a:pt x="252" y="316"/>
                </a:cubicBezTo>
                <a:cubicBezTo>
                  <a:pt x="252" y="308"/>
                  <a:pt x="258" y="302"/>
                  <a:pt x="266" y="302"/>
                </a:cubicBezTo>
                <a:cubicBezTo>
                  <a:pt x="274" y="302"/>
                  <a:pt x="280" y="308"/>
                  <a:pt x="280" y="316"/>
                </a:cubicBezTo>
                <a:cubicBezTo>
                  <a:pt x="280" y="324"/>
                  <a:pt x="274" y="331"/>
                  <a:pt x="266" y="331"/>
                </a:cubicBezTo>
                <a:close/>
                <a:moveTo>
                  <a:pt x="272" y="258"/>
                </a:moveTo>
                <a:cubicBezTo>
                  <a:pt x="268" y="258"/>
                  <a:pt x="264" y="255"/>
                  <a:pt x="264" y="250"/>
                </a:cubicBezTo>
                <a:cubicBezTo>
                  <a:pt x="264" y="246"/>
                  <a:pt x="268" y="242"/>
                  <a:pt x="272" y="242"/>
                </a:cubicBezTo>
                <a:cubicBezTo>
                  <a:pt x="277" y="242"/>
                  <a:pt x="280" y="246"/>
                  <a:pt x="280" y="250"/>
                </a:cubicBezTo>
                <a:cubicBezTo>
                  <a:pt x="280" y="255"/>
                  <a:pt x="277" y="258"/>
                  <a:pt x="272" y="258"/>
                </a:cubicBezTo>
                <a:close/>
                <a:moveTo>
                  <a:pt x="328" y="215"/>
                </a:moveTo>
                <a:cubicBezTo>
                  <a:pt x="318" y="215"/>
                  <a:pt x="310" y="207"/>
                  <a:pt x="310" y="197"/>
                </a:cubicBezTo>
                <a:cubicBezTo>
                  <a:pt x="310" y="187"/>
                  <a:pt x="318" y="180"/>
                  <a:pt x="328" y="180"/>
                </a:cubicBezTo>
                <a:cubicBezTo>
                  <a:pt x="338" y="180"/>
                  <a:pt x="346" y="187"/>
                  <a:pt x="346" y="197"/>
                </a:cubicBezTo>
                <a:cubicBezTo>
                  <a:pt x="346" y="207"/>
                  <a:pt x="338" y="215"/>
                  <a:pt x="328" y="21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808080"/>
              </a:solidFill>
            </a:endParaRPr>
          </a:p>
        </p:txBody>
      </p:sp>
      <p:cxnSp>
        <p:nvCxnSpPr>
          <p:cNvPr id="3" name="直接箭头连接符 17"/>
          <p:cNvCxnSpPr/>
          <p:nvPr/>
        </p:nvCxnSpPr>
        <p:spPr>
          <a:xfrm flipV="1">
            <a:off x="2923613" y="1065972"/>
            <a:ext cx="1147453" cy="780933"/>
          </a:xfrm>
          <a:prstGeom prst="straightConnector1">
            <a:avLst/>
          </a:prstGeom>
          <a:ln w="15875">
            <a:solidFill>
              <a:schemeClr val="tx2">
                <a:alpha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接箭头连接符 17"/>
          <p:cNvCxnSpPr/>
          <p:nvPr/>
        </p:nvCxnSpPr>
        <p:spPr>
          <a:xfrm>
            <a:off x="5017774" y="1097928"/>
            <a:ext cx="1242052" cy="748977"/>
          </a:xfrm>
          <a:prstGeom prst="straightConnector1">
            <a:avLst/>
          </a:prstGeom>
          <a:ln w="15875">
            <a:solidFill>
              <a:schemeClr val="tx2">
                <a:alpha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箭头连接符 17"/>
          <p:cNvCxnSpPr/>
          <p:nvPr/>
        </p:nvCxnSpPr>
        <p:spPr>
          <a:xfrm>
            <a:off x="3270438" y="2259779"/>
            <a:ext cx="2587023" cy="0"/>
          </a:xfrm>
          <a:prstGeom prst="straightConnector1">
            <a:avLst/>
          </a:prstGeom>
          <a:ln w="15875">
            <a:solidFill>
              <a:schemeClr val="tx2">
                <a:alpha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形 6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710560">
            <a:off x="4316362" y="823154"/>
            <a:ext cx="456117" cy="452788"/>
          </a:xfrm>
          <a:prstGeom prst="rect">
            <a:avLst/>
          </a:prstGeom>
        </p:spPr>
      </p:pic>
      <p:pic>
        <p:nvPicPr>
          <p:cNvPr id="8" name="图形 7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2999880">
            <a:off x="3051855" y="1154459"/>
            <a:ext cx="432874" cy="432874"/>
          </a:xfrm>
          <a:prstGeom prst="rect">
            <a:avLst/>
          </a:prstGeom>
        </p:spPr>
      </p:pic>
      <p:pic>
        <p:nvPicPr>
          <p:cNvPr id="9" name="图形 8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374935" y="1846905"/>
            <a:ext cx="710009" cy="946678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1972569" y="503583"/>
            <a:ext cx="5182760" cy="2340452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4" name="组合 3"/>
          <p:cNvGrpSpPr/>
          <p:nvPr/>
        </p:nvGrpSpPr>
        <p:grpSpPr>
          <a:xfrm>
            <a:off x="879475" y="-106045"/>
            <a:ext cx="8916670" cy="7780020"/>
            <a:chOff x="1385" y="-167"/>
            <a:chExt cx="10815" cy="14553"/>
          </a:xfrm>
        </p:grpSpPr>
        <p:sp>
          <p:nvSpPr>
            <p:cNvPr id="35" name="矩形 34"/>
            <p:cNvSpPr/>
            <p:nvPr/>
          </p:nvSpPr>
          <p:spPr>
            <a:xfrm>
              <a:off x="3432" y="3044"/>
              <a:ext cx="8723" cy="6099"/>
            </a:xfrm>
            <a:prstGeom prst="rect">
              <a:avLst/>
            </a:prstGeom>
            <a:noFill/>
            <a:ln w="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下箭头 94"/>
            <p:cNvSpPr/>
            <p:nvPr/>
          </p:nvSpPr>
          <p:spPr>
            <a:xfrm>
              <a:off x="7618" y="13437"/>
              <a:ext cx="423" cy="358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/>
                <p:cNvSpPr/>
                <p:nvPr/>
              </p:nvSpPr>
              <p:spPr>
                <a:xfrm>
                  <a:off x="6471" y="3213"/>
                  <a:ext cx="2571" cy="762"/>
                </a:xfrm>
                <a:prstGeom prst="rect">
                  <a:avLst/>
                </a:prstGeom>
                <a:solidFill>
                  <a:srgbClr val="B1CDEC"/>
                </a:solid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𝑝</m:t>
                          </m:r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:</m:t>
                      </m:r>
                    </m:oMath>
                  </a14:m>
                  <a:r>
                    <a:rPr lang="en-US" altLang="zh-CN" sz="1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Annual cargo via elevator port p</a:t>
                  </a:r>
                  <a:endParaRPr lang="en-US" altLang="zh-CN" sz="1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1" y="3213"/>
                  <a:ext cx="2571" cy="762"/>
                </a:xfrm>
                <a:prstGeom prst="rect">
                  <a:avLst/>
                </a:prstGeom>
                <a:blipFill rotWithShape="1">
                  <a:blip r:embed="rId1"/>
                </a:blip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矩形 31"/>
                <p:cNvSpPr/>
                <p:nvPr/>
              </p:nvSpPr>
              <p:spPr>
                <a:xfrm>
                  <a:off x="9493" y="3213"/>
                  <a:ext cx="2381" cy="795"/>
                </a:xfrm>
                <a:prstGeom prst="rect">
                  <a:avLst/>
                </a:prstGeom>
                <a:solidFill>
                  <a:srgbClr val="F6CAAD"/>
                </a:solid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:</m:t>
                      </m:r>
                    </m:oMath>
                  </a14:m>
                  <a:r>
                    <a:rPr lang="en-US" altLang="zh-CN" sz="1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Project completion in year t</a:t>
                  </a:r>
                  <a:endParaRPr lang="zh-CN" altLang="en-US" sz="1200" dirty="0">
                    <a:sym typeface="+mn-ea"/>
                  </a:endParaRPr>
                </a:p>
              </p:txBody>
            </p:sp>
          </mc:Choice>
          <mc:Fallback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" y="3213"/>
                  <a:ext cx="2381" cy="795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/>
                <p:cNvSpPr/>
                <p:nvPr/>
              </p:nvSpPr>
              <p:spPr>
                <a:xfrm>
                  <a:off x="3754" y="3213"/>
                  <a:ext cx="2266" cy="771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𝑘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chemeClr val="tx1"/>
                      </a:solidFill>
                    </a:rPr>
                    <a:t>: Annual rocket launches at site k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矩形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4" y="3213"/>
                  <a:ext cx="2266" cy="771"/>
                </a:xfrm>
                <a:prstGeom prst="rect">
                  <a:avLst/>
                </a:prstGeom>
                <a:blipFill rotWithShape="1">
                  <a:blip r:embed="rId3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圆角矩形 20"/>
            <p:cNvSpPr/>
            <p:nvPr/>
          </p:nvSpPr>
          <p:spPr>
            <a:xfrm>
              <a:off x="3477" y="5059"/>
              <a:ext cx="8561" cy="682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圆角矩形 20"/>
            <p:cNvSpPr/>
            <p:nvPr/>
          </p:nvSpPr>
          <p:spPr>
            <a:xfrm>
              <a:off x="3670" y="5908"/>
              <a:ext cx="8248" cy="2117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5000" y="5908"/>
                  <a:ext cx="5488" cy="275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127000" algn="ctr">
                    <a:buNone/>
                  </a:pPr>
                  <a:r>
                    <a:rPr lang="en-US" altLang="zh-CN" sz="1200" b="1" dirty="0"/>
                    <a:t>Constraints</a:t>
                  </a:r>
                  <a:r>
                    <a:rPr lang="zh-CN" altLang="en-US" sz="1200" dirty="0"/>
                    <a:t>：</a:t>
                  </a:r>
                  <a:endParaRPr lang="en-US" altLang="zh-CN" sz="1200" dirty="0"/>
                </a:p>
                <a:p>
                  <a:pPr indent="127000" algn="just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zh-CN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sup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𝐶𝑎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𝑟𝑜𝑐𝑘𝑒𝑡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)+</m:t>
                        </m:r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)≥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127000" algn="just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𝑙𝑖𝑓𝑡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,∀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,∀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127000" algn="just">
                    <a:lnSpc>
                      <a:spcPct val="15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endParaRPr lang="zh-CN" altLang="en-US" sz="1200" dirty="0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0" y="5908"/>
                  <a:ext cx="5488" cy="275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3374" y="5193"/>
                  <a:ext cx="8826" cy="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𝑟𝑜𝑐𝑘𝑒𝑡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𝑙𝑖𝑓𝑡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))</m:t>
                      </m:r>
                    </m:oMath>
                  </a14:m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1200" i="1" kern="100"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1200" i="1" kern="100"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4" y="5193"/>
                  <a:ext cx="8826" cy="62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矩形 53"/>
            <p:cNvSpPr/>
            <p:nvPr/>
          </p:nvSpPr>
          <p:spPr>
            <a:xfrm>
              <a:off x="4020" y="8360"/>
              <a:ext cx="7525" cy="389"/>
            </a:xfrm>
            <a:prstGeom prst="rect">
              <a:avLst/>
            </a:prstGeom>
            <a:solidFill>
              <a:srgbClr val="D5E9EA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Defines an NP-Hard Mixed-Integer Linear Programming (MILP) problem.</a:t>
              </a:r>
              <a:endParaRPr lang="zh-CN" altLang="en-US" sz="12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/>
                <p:cNvSpPr txBox="1"/>
                <p:nvPr/>
              </p:nvSpPr>
              <p:spPr>
                <a:xfrm>
                  <a:off x="4020" y="4081"/>
                  <a:ext cx="7200" cy="867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0" y="4081"/>
                  <a:ext cx="7200" cy="867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圆角矩形 20"/>
            <p:cNvSpPr/>
            <p:nvPr/>
          </p:nvSpPr>
          <p:spPr>
            <a:xfrm>
              <a:off x="5496" y="4099"/>
              <a:ext cx="4351" cy="721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3432" y="-167"/>
              <a:ext cx="8723" cy="2969"/>
            </a:xfrm>
            <a:prstGeom prst="rect">
              <a:avLst/>
            </a:prstGeom>
            <a:noFill/>
            <a:ln w="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earth_44386"/>
            <p:cNvSpPr/>
            <p:nvPr/>
          </p:nvSpPr>
          <p:spPr>
            <a:xfrm>
              <a:off x="9998" y="1532"/>
              <a:ext cx="1061" cy="987"/>
            </a:xfrm>
            <a:custGeom>
              <a:avLst/>
              <a:gdLst>
                <a:gd name="T0" fmla="*/ 199 w 397"/>
                <a:gd name="T1" fmla="*/ 0 h 397"/>
                <a:gd name="T2" fmla="*/ 0 w 397"/>
                <a:gd name="T3" fmla="*/ 199 h 397"/>
                <a:gd name="T4" fmla="*/ 199 w 397"/>
                <a:gd name="T5" fmla="*/ 397 h 397"/>
                <a:gd name="T6" fmla="*/ 397 w 397"/>
                <a:gd name="T7" fmla="*/ 199 h 397"/>
                <a:gd name="T8" fmla="*/ 199 w 397"/>
                <a:gd name="T9" fmla="*/ 0 h 397"/>
                <a:gd name="T10" fmla="*/ 57 w 397"/>
                <a:gd name="T11" fmla="*/ 190 h 397"/>
                <a:gd name="T12" fmla="*/ 46 w 397"/>
                <a:gd name="T13" fmla="*/ 180 h 397"/>
                <a:gd name="T14" fmla="*/ 57 w 397"/>
                <a:gd name="T15" fmla="*/ 169 h 397"/>
                <a:gd name="T16" fmla="*/ 68 w 397"/>
                <a:gd name="T17" fmla="*/ 180 h 397"/>
                <a:gd name="T18" fmla="*/ 57 w 397"/>
                <a:gd name="T19" fmla="*/ 190 h 397"/>
                <a:gd name="T20" fmla="*/ 117 w 397"/>
                <a:gd name="T21" fmla="*/ 201 h 397"/>
                <a:gd name="T22" fmla="*/ 106 w 397"/>
                <a:gd name="T23" fmla="*/ 190 h 397"/>
                <a:gd name="T24" fmla="*/ 117 w 397"/>
                <a:gd name="T25" fmla="*/ 180 h 397"/>
                <a:gd name="T26" fmla="*/ 128 w 397"/>
                <a:gd name="T27" fmla="*/ 190 h 397"/>
                <a:gd name="T28" fmla="*/ 117 w 397"/>
                <a:gd name="T29" fmla="*/ 201 h 397"/>
                <a:gd name="T30" fmla="*/ 161 w 397"/>
                <a:gd name="T31" fmla="*/ 302 h 397"/>
                <a:gd name="T32" fmla="*/ 139 w 397"/>
                <a:gd name="T33" fmla="*/ 280 h 397"/>
                <a:gd name="T34" fmla="*/ 161 w 397"/>
                <a:gd name="T35" fmla="*/ 258 h 397"/>
                <a:gd name="T36" fmla="*/ 182 w 397"/>
                <a:gd name="T37" fmla="*/ 280 h 397"/>
                <a:gd name="T38" fmla="*/ 161 w 397"/>
                <a:gd name="T39" fmla="*/ 302 h 397"/>
                <a:gd name="T40" fmla="*/ 161 w 397"/>
                <a:gd name="T41" fmla="*/ 98 h 397"/>
                <a:gd name="T42" fmla="*/ 139 w 397"/>
                <a:gd name="T43" fmla="*/ 76 h 397"/>
                <a:gd name="T44" fmla="*/ 161 w 397"/>
                <a:gd name="T45" fmla="*/ 54 h 397"/>
                <a:gd name="T46" fmla="*/ 182 w 397"/>
                <a:gd name="T47" fmla="*/ 76 h 397"/>
                <a:gd name="T48" fmla="*/ 161 w 397"/>
                <a:gd name="T49" fmla="*/ 98 h 397"/>
                <a:gd name="T50" fmla="*/ 320 w 397"/>
                <a:gd name="T51" fmla="*/ 112 h 397"/>
                <a:gd name="T52" fmla="*/ 329 w 397"/>
                <a:gd name="T53" fmla="*/ 121 h 397"/>
                <a:gd name="T54" fmla="*/ 320 w 397"/>
                <a:gd name="T55" fmla="*/ 131 h 397"/>
                <a:gd name="T56" fmla="*/ 310 w 397"/>
                <a:gd name="T57" fmla="*/ 121 h 397"/>
                <a:gd name="T58" fmla="*/ 320 w 397"/>
                <a:gd name="T59" fmla="*/ 112 h 397"/>
                <a:gd name="T60" fmla="*/ 210 w 397"/>
                <a:gd name="T61" fmla="*/ 190 h 397"/>
                <a:gd name="T62" fmla="*/ 199 w 397"/>
                <a:gd name="T63" fmla="*/ 180 h 397"/>
                <a:gd name="T64" fmla="*/ 210 w 397"/>
                <a:gd name="T65" fmla="*/ 169 h 397"/>
                <a:gd name="T66" fmla="*/ 220 w 397"/>
                <a:gd name="T67" fmla="*/ 180 h 397"/>
                <a:gd name="T68" fmla="*/ 210 w 397"/>
                <a:gd name="T69" fmla="*/ 190 h 397"/>
                <a:gd name="T70" fmla="*/ 239 w 397"/>
                <a:gd name="T71" fmla="*/ 67 h 397"/>
                <a:gd name="T72" fmla="*/ 252 w 397"/>
                <a:gd name="T73" fmla="*/ 54 h 397"/>
                <a:gd name="T74" fmla="*/ 264 w 397"/>
                <a:gd name="T75" fmla="*/ 67 h 397"/>
                <a:gd name="T76" fmla="*/ 252 w 397"/>
                <a:gd name="T77" fmla="*/ 79 h 397"/>
                <a:gd name="T78" fmla="*/ 239 w 397"/>
                <a:gd name="T79" fmla="*/ 67 h 397"/>
                <a:gd name="T80" fmla="*/ 266 w 397"/>
                <a:gd name="T81" fmla="*/ 331 h 397"/>
                <a:gd name="T82" fmla="*/ 252 w 397"/>
                <a:gd name="T83" fmla="*/ 316 h 397"/>
                <a:gd name="T84" fmla="*/ 266 w 397"/>
                <a:gd name="T85" fmla="*/ 302 h 397"/>
                <a:gd name="T86" fmla="*/ 280 w 397"/>
                <a:gd name="T87" fmla="*/ 316 h 397"/>
                <a:gd name="T88" fmla="*/ 266 w 397"/>
                <a:gd name="T89" fmla="*/ 331 h 397"/>
                <a:gd name="T90" fmla="*/ 272 w 397"/>
                <a:gd name="T91" fmla="*/ 258 h 397"/>
                <a:gd name="T92" fmla="*/ 264 w 397"/>
                <a:gd name="T93" fmla="*/ 250 h 397"/>
                <a:gd name="T94" fmla="*/ 272 w 397"/>
                <a:gd name="T95" fmla="*/ 242 h 397"/>
                <a:gd name="T96" fmla="*/ 280 w 397"/>
                <a:gd name="T97" fmla="*/ 250 h 397"/>
                <a:gd name="T98" fmla="*/ 272 w 397"/>
                <a:gd name="T99" fmla="*/ 258 h 397"/>
                <a:gd name="T100" fmla="*/ 328 w 397"/>
                <a:gd name="T101" fmla="*/ 215 h 397"/>
                <a:gd name="T102" fmla="*/ 310 w 397"/>
                <a:gd name="T103" fmla="*/ 197 h 397"/>
                <a:gd name="T104" fmla="*/ 328 w 397"/>
                <a:gd name="T105" fmla="*/ 180 h 397"/>
                <a:gd name="T106" fmla="*/ 346 w 397"/>
                <a:gd name="T107" fmla="*/ 197 h 397"/>
                <a:gd name="T108" fmla="*/ 328 w 397"/>
                <a:gd name="T109" fmla="*/ 21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397">
                  <a:moveTo>
                    <a:pt x="199" y="0"/>
                  </a:moveTo>
                  <a:cubicBezTo>
                    <a:pt x="89" y="0"/>
                    <a:pt x="0" y="89"/>
                    <a:pt x="0" y="199"/>
                  </a:cubicBezTo>
                  <a:cubicBezTo>
                    <a:pt x="0" y="308"/>
                    <a:pt x="89" y="397"/>
                    <a:pt x="199" y="397"/>
                  </a:cubicBezTo>
                  <a:cubicBezTo>
                    <a:pt x="308" y="397"/>
                    <a:pt x="397" y="308"/>
                    <a:pt x="397" y="199"/>
                  </a:cubicBezTo>
                  <a:cubicBezTo>
                    <a:pt x="397" y="89"/>
                    <a:pt x="308" y="0"/>
                    <a:pt x="199" y="0"/>
                  </a:cubicBezTo>
                  <a:close/>
                  <a:moveTo>
                    <a:pt x="57" y="190"/>
                  </a:moveTo>
                  <a:cubicBezTo>
                    <a:pt x="51" y="190"/>
                    <a:pt x="46" y="186"/>
                    <a:pt x="46" y="180"/>
                  </a:cubicBezTo>
                  <a:cubicBezTo>
                    <a:pt x="46" y="174"/>
                    <a:pt x="51" y="169"/>
                    <a:pt x="57" y="169"/>
                  </a:cubicBezTo>
                  <a:cubicBezTo>
                    <a:pt x="63" y="169"/>
                    <a:pt x="68" y="174"/>
                    <a:pt x="68" y="180"/>
                  </a:cubicBezTo>
                  <a:cubicBezTo>
                    <a:pt x="68" y="186"/>
                    <a:pt x="63" y="190"/>
                    <a:pt x="57" y="190"/>
                  </a:cubicBezTo>
                  <a:close/>
                  <a:moveTo>
                    <a:pt x="117" y="201"/>
                  </a:moveTo>
                  <a:cubicBezTo>
                    <a:pt x="111" y="201"/>
                    <a:pt x="106" y="196"/>
                    <a:pt x="106" y="190"/>
                  </a:cubicBezTo>
                  <a:cubicBezTo>
                    <a:pt x="106" y="184"/>
                    <a:pt x="111" y="180"/>
                    <a:pt x="117" y="180"/>
                  </a:cubicBezTo>
                  <a:cubicBezTo>
                    <a:pt x="123" y="180"/>
                    <a:pt x="128" y="184"/>
                    <a:pt x="128" y="190"/>
                  </a:cubicBezTo>
                  <a:cubicBezTo>
                    <a:pt x="128" y="196"/>
                    <a:pt x="123" y="201"/>
                    <a:pt x="117" y="201"/>
                  </a:cubicBezTo>
                  <a:close/>
                  <a:moveTo>
                    <a:pt x="161" y="302"/>
                  </a:moveTo>
                  <a:cubicBezTo>
                    <a:pt x="149" y="302"/>
                    <a:pt x="139" y="292"/>
                    <a:pt x="139" y="280"/>
                  </a:cubicBezTo>
                  <a:cubicBezTo>
                    <a:pt x="139" y="268"/>
                    <a:pt x="149" y="258"/>
                    <a:pt x="161" y="258"/>
                  </a:cubicBezTo>
                  <a:cubicBezTo>
                    <a:pt x="173" y="258"/>
                    <a:pt x="182" y="268"/>
                    <a:pt x="182" y="280"/>
                  </a:cubicBezTo>
                  <a:cubicBezTo>
                    <a:pt x="182" y="292"/>
                    <a:pt x="173" y="302"/>
                    <a:pt x="161" y="302"/>
                  </a:cubicBezTo>
                  <a:close/>
                  <a:moveTo>
                    <a:pt x="161" y="98"/>
                  </a:moveTo>
                  <a:cubicBezTo>
                    <a:pt x="149" y="98"/>
                    <a:pt x="139" y="88"/>
                    <a:pt x="139" y="76"/>
                  </a:cubicBezTo>
                  <a:cubicBezTo>
                    <a:pt x="139" y="64"/>
                    <a:pt x="149" y="54"/>
                    <a:pt x="161" y="54"/>
                  </a:cubicBezTo>
                  <a:cubicBezTo>
                    <a:pt x="173" y="54"/>
                    <a:pt x="182" y="64"/>
                    <a:pt x="182" y="76"/>
                  </a:cubicBezTo>
                  <a:cubicBezTo>
                    <a:pt x="182" y="88"/>
                    <a:pt x="173" y="98"/>
                    <a:pt x="161" y="98"/>
                  </a:cubicBezTo>
                  <a:close/>
                  <a:moveTo>
                    <a:pt x="320" y="112"/>
                  </a:moveTo>
                  <a:cubicBezTo>
                    <a:pt x="325" y="112"/>
                    <a:pt x="329" y="116"/>
                    <a:pt x="329" y="121"/>
                  </a:cubicBezTo>
                  <a:cubicBezTo>
                    <a:pt x="329" y="126"/>
                    <a:pt x="325" y="131"/>
                    <a:pt x="320" y="131"/>
                  </a:cubicBezTo>
                  <a:cubicBezTo>
                    <a:pt x="314" y="131"/>
                    <a:pt x="310" y="126"/>
                    <a:pt x="310" y="121"/>
                  </a:cubicBezTo>
                  <a:cubicBezTo>
                    <a:pt x="310" y="116"/>
                    <a:pt x="314" y="112"/>
                    <a:pt x="320" y="112"/>
                  </a:cubicBezTo>
                  <a:close/>
                  <a:moveTo>
                    <a:pt x="210" y="190"/>
                  </a:moveTo>
                  <a:cubicBezTo>
                    <a:pt x="204" y="190"/>
                    <a:pt x="199" y="186"/>
                    <a:pt x="199" y="180"/>
                  </a:cubicBezTo>
                  <a:cubicBezTo>
                    <a:pt x="199" y="174"/>
                    <a:pt x="204" y="169"/>
                    <a:pt x="210" y="169"/>
                  </a:cubicBezTo>
                  <a:cubicBezTo>
                    <a:pt x="216" y="169"/>
                    <a:pt x="220" y="174"/>
                    <a:pt x="220" y="180"/>
                  </a:cubicBezTo>
                  <a:cubicBezTo>
                    <a:pt x="220" y="186"/>
                    <a:pt x="216" y="190"/>
                    <a:pt x="210" y="190"/>
                  </a:cubicBezTo>
                  <a:close/>
                  <a:moveTo>
                    <a:pt x="239" y="67"/>
                  </a:moveTo>
                  <a:cubicBezTo>
                    <a:pt x="239" y="60"/>
                    <a:pt x="245" y="54"/>
                    <a:pt x="252" y="54"/>
                  </a:cubicBezTo>
                  <a:cubicBezTo>
                    <a:pt x="258" y="54"/>
                    <a:pt x="264" y="60"/>
                    <a:pt x="264" y="67"/>
                  </a:cubicBezTo>
                  <a:cubicBezTo>
                    <a:pt x="264" y="73"/>
                    <a:pt x="258" y="79"/>
                    <a:pt x="252" y="79"/>
                  </a:cubicBezTo>
                  <a:cubicBezTo>
                    <a:pt x="245" y="79"/>
                    <a:pt x="239" y="73"/>
                    <a:pt x="239" y="67"/>
                  </a:cubicBezTo>
                  <a:close/>
                  <a:moveTo>
                    <a:pt x="266" y="331"/>
                  </a:moveTo>
                  <a:cubicBezTo>
                    <a:pt x="258" y="331"/>
                    <a:pt x="252" y="324"/>
                    <a:pt x="252" y="316"/>
                  </a:cubicBezTo>
                  <a:cubicBezTo>
                    <a:pt x="252" y="308"/>
                    <a:pt x="258" y="302"/>
                    <a:pt x="266" y="302"/>
                  </a:cubicBezTo>
                  <a:cubicBezTo>
                    <a:pt x="274" y="302"/>
                    <a:pt x="280" y="308"/>
                    <a:pt x="280" y="316"/>
                  </a:cubicBezTo>
                  <a:cubicBezTo>
                    <a:pt x="280" y="324"/>
                    <a:pt x="274" y="331"/>
                    <a:pt x="266" y="331"/>
                  </a:cubicBezTo>
                  <a:close/>
                  <a:moveTo>
                    <a:pt x="272" y="258"/>
                  </a:moveTo>
                  <a:cubicBezTo>
                    <a:pt x="268" y="258"/>
                    <a:pt x="264" y="255"/>
                    <a:pt x="264" y="250"/>
                  </a:cubicBezTo>
                  <a:cubicBezTo>
                    <a:pt x="264" y="246"/>
                    <a:pt x="268" y="242"/>
                    <a:pt x="272" y="242"/>
                  </a:cubicBezTo>
                  <a:cubicBezTo>
                    <a:pt x="277" y="242"/>
                    <a:pt x="280" y="246"/>
                    <a:pt x="280" y="250"/>
                  </a:cubicBezTo>
                  <a:cubicBezTo>
                    <a:pt x="280" y="255"/>
                    <a:pt x="277" y="258"/>
                    <a:pt x="272" y="258"/>
                  </a:cubicBezTo>
                  <a:close/>
                  <a:moveTo>
                    <a:pt x="328" y="215"/>
                  </a:moveTo>
                  <a:cubicBezTo>
                    <a:pt x="318" y="215"/>
                    <a:pt x="310" y="207"/>
                    <a:pt x="310" y="197"/>
                  </a:cubicBezTo>
                  <a:cubicBezTo>
                    <a:pt x="310" y="187"/>
                    <a:pt x="318" y="180"/>
                    <a:pt x="328" y="180"/>
                  </a:cubicBezTo>
                  <a:cubicBezTo>
                    <a:pt x="338" y="180"/>
                    <a:pt x="346" y="187"/>
                    <a:pt x="346" y="197"/>
                  </a:cubicBezTo>
                  <a:cubicBezTo>
                    <a:pt x="346" y="207"/>
                    <a:pt x="338" y="215"/>
                    <a:pt x="328" y="215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rgbClr val="808080"/>
                </a:solidFill>
              </a:endParaRPr>
            </a:p>
          </p:txBody>
        </p:sp>
        <p:cxnSp>
          <p:nvCxnSpPr>
            <p:cNvPr id="64" name="直接箭头连接符 17"/>
            <p:cNvCxnSpPr/>
            <p:nvPr/>
          </p:nvCxnSpPr>
          <p:spPr>
            <a:xfrm flipV="1">
              <a:off x="5406" y="323"/>
              <a:ext cx="1715" cy="1062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17"/>
            <p:cNvCxnSpPr/>
            <p:nvPr/>
          </p:nvCxnSpPr>
          <p:spPr>
            <a:xfrm>
              <a:off x="8536" y="367"/>
              <a:ext cx="1642" cy="1090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17"/>
            <p:cNvCxnSpPr/>
            <p:nvPr/>
          </p:nvCxnSpPr>
          <p:spPr>
            <a:xfrm>
              <a:off x="5750" y="2106"/>
              <a:ext cx="3943" cy="0"/>
            </a:xfrm>
            <a:prstGeom prst="straightConnector1">
              <a:avLst/>
            </a:prstGeom>
            <a:ln w="19050">
              <a:solidFill>
                <a:srgbClr val="C00000">
                  <a:alpha val="50000"/>
                </a:srgb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图形 6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7414" y="2158"/>
              <a:ext cx="589" cy="647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45" y="1421"/>
              <a:ext cx="1061" cy="1287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710560">
              <a:off x="7435" y="10"/>
              <a:ext cx="718" cy="71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矩形 72"/>
                <p:cNvSpPr/>
                <p:nvPr/>
              </p:nvSpPr>
              <p:spPr>
                <a:xfrm>
                  <a:off x="3747" y="10812"/>
                  <a:ext cx="1407" cy="305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smtClean="0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sz="1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3" name="矩形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" y="10812"/>
                  <a:ext cx="1407" cy="305"/>
                </a:xfrm>
                <a:prstGeom prst="rect">
                  <a:avLst/>
                </a:prstGeom>
                <a:blipFill rotWithShape="1">
                  <a:blip r:embed="rId16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矩形 73"/>
                <p:cNvSpPr/>
                <p:nvPr/>
              </p:nvSpPr>
              <p:spPr>
                <a:xfrm>
                  <a:off x="3758" y="11320"/>
                  <a:ext cx="1407" cy="305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矩形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8" y="11320"/>
                  <a:ext cx="1407" cy="305"/>
                </a:xfrm>
                <a:prstGeom prst="rect">
                  <a:avLst/>
                </a:prstGeom>
                <a:blipFill rotWithShape="1">
                  <a:blip r:embed="rId17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矩形: 圆角 74"/>
            <p:cNvSpPr/>
            <p:nvPr/>
          </p:nvSpPr>
          <p:spPr>
            <a:xfrm>
              <a:off x="5638" y="10180"/>
              <a:ext cx="1075" cy="2354"/>
            </a:xfrm>
            <a:prstGeom prst="roundRect">
              <a:avLst>
                <a:gd name="adj" fmla="val 0"/>
              </a:avLst>
            </a:prstGeom>
            <a:noFill/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Code-level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Para-meters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6927" y="10279"/>
              <a:ext cx="1610" cy="397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POP_SIZE=100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927" y="10875"/>
              <a:ext cx="2923" cy="312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MAX_GENERATIONS=1000 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919" y="12337"/>
              <a:ext cx="2842" cy="348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PENALTY_WEIGHT=1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e6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6912" y="11300"/>
              <a:ext cx="3473" cy="892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WEIGHT_RANGE=np.linspace(0,1,11)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0" name="圆角矩形 15"/>
            <p:cNvSpPr/>
            <p:nvPr/>
          </p:nvSpPr>
          <p:spPr>
            <a:xfrm>
              <a:off x="5578" y="9811"/>
              <a:ext cx="4910" cy="3188"/>
            </a:xfrm>
            <a:prstGeom prst="roundRect">
              <a:avLst/>
            </a:prstGeom>
            <a:noFill/>
            <a:ln w="9525">
              <a:solidFill>
                <a:srgbClr val="0070C0">
                  <a:alpha val="72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1" name="圆角矩形 16"/>
            <p:cNvSpPr/>
            <p:nvPr/>
          </p:nvSpPr>
          <p:spPr>
            <a:xfrm>
              <a:off x="3610" y="10693"/>
              <a:ext cx="1697" cy="1067"/>
            </a:xfrm>
            <a:prstGeom prst="roundRect">
              <a:avLst>
                <a:gd name="adj" fmla="val 14974"/>
              </a:avLst>
            </a:prstGeom>
            <a:noFill/>
            <a:ln w="9525">
              <a:solidFill>
                <a:srgbClr val="0070C0">
                  <a:alpha val="72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圆角矩形 17"/>
                <p:cNvSpPr/>
                <p:nvPr/>
              </p:nvSpPr>
              <p:spPr>
                <a:xfrm>
                  <a:off x="10863" y="10964"/>
                  <a:ext cx="1259" cy="588"/>
                </a:xfrm>
                <a:prstGeom prst="roundRect">
                  <a:avLst>
                    <a:gd name="adj" fmla="val 14974"/>
                  </a:avLst>
                </a:prstGeom>
                <a:solidFill>
                  <a:srgbClr val="F6CAAD"/>
                </a:solidFill>
                <a:ln w="9525">
                  <a:solidFill>
                    <a:srgbClr val="0070C0">
                      <a:alpha val="72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𝑇𝑜𝑡𝑎𝑙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82" name="圆角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3" y="10964"/>
                  <a:ext cx="1259" cy="588"/>
                </a:xfrm>
                <a:prstGeom prst="roundRect">
                  <a:avLst>
                    <a:gd name="adj" fmla="val 14974"/>
                  </a:avLst>
                </a:prstGeom>
                <a:blipFill rotWithShape="1">
                  <a:blip r:embed="rId18"/>
                </a:blipFill>
                <a:ln w="9525">
                  <a:solidFill>
                    <a:srgbClr val="0070C0">
                      <a:alpha val="72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接箭头连接符 82"/>
            <p:cNvCxnSpPr/>
            <p:nvPr/>
          </p:nvCxnSpPr>
          <p:spPr>
            <a:xfrm>
              <a:off x="5348" y="11280"/>
              <a:ext cx="282" cy="1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endCxn id="76" idx="1"/>
            </p:cNvCxnSpPr>
            <p:nvPr/>
          </p:nvCxnSpPr>
          <p:spPr>
            <a:xfrm>
              <a:off x="6707" y="10477"/>
              <a:ext cx="220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>
              <a:endCxn id="77" idx="1"/>
            </p:cNvCxnSpPr>
            <p:nvPr/>
          </p:nvCxnSpPr>
          <p:spPr>
            <a:xfrm>
              <a:off x="6707" y="11031"/>
              <a:ext cx="220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>
              <a:endCxn id="79" idx="1"/>
            </p:cNvCxnSpPr>
            <p:nvPr/>
          </p:nvCxnSpPr>
          <p:spPr>
            <a:xfrm>
              <a:off x="6728" y="11746"/>
              <a:ext cx="184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6694" y="12513"/>
              <a:ext cx="227" cy="6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9" name="矩形 88"/>
            <p:cNvSpPr/>
            <p:nvPr/>
          </p:nvSpPr>
          <p:spPr>
            <a:xfrm>
              <a:off x="3477" y="9499"/>
              <a:ext cx="8723" cy="3888"/>
            </a:xfrm>
            <a:prstGeom prst="rect">
              <a:avLst/>
            </a:prstGeom>
            <a:noFill/>
            <a:ln w="0">
              <a:solidFill>
                <a:srgbClr val="F6CAAD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1385" y="840"/>
              <a:ext cx="1886" cy="692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STEP1: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Conceptual Layer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1553" y="5504"/>
              <a:ext cx="1660" cy="590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STEP2: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Algorithmic Layer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412" y="10597"/>
              <a:ext cx="1886" cy="497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STEP3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Implementation Layer: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96" name="直接箭头连接符 95"/>
            <p:cNvCxnSpPr>
              <a:stCxn id="92" idx="2"/>
            </p:cNvCxnSpPr>
            <p:nvPr/>
          </p:nvCxnSpPr>
          <p:spPr>
            <a:xfrm>
              <a:off x="2328" y="1532"/>
              <a:ext cx="30" cy="3599"/>
            </a:xfrm>
            <a:prstGeom prst="straightConnector1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>
              <a:off x="2344" y="6163"/>
              <a:ext cx="5" cy="3797"/>
            </a:xfrm>
            <a:prstGeom prst="straightConnector1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肘形连接符 64"/>
            <p:cNvCxnSpPr/>
            <p:nvPr/>
          </p:nvCxnSpPr>
          <p:spPr>
            <a:xfrm rot="5400000" flipV="1">
              <a:off x="1634" y="11878"/>
              <a:ext cx="2812" cy="1414"/>
            </a:xfrm>
            <a:prstGeom prst="bentConnector2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0" name="缺角矩形 119"/>
            <p:cNvSpPr/>
            <p:nvPr/>
          </p:nvSpPr>
          <p:spPr>
            <a:xfrm>
              <a:off x="3965" y="13810"/>
              <a:ext cx="7748" cy="576"/>
            </a:xfrm>
            <a:prstGeom prst="plaqu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Hybrid Transportation System is the Optimized Solution</a:t>
              </a:r>
              <a:endPara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1" name="直接箭头连接符 120"/>
            <p:cNvCxnSpPr/>
            <p:nvPr/>
          </p:nvCxnSpPr>
          <p:spPr>
            <a:xfrm>
              <a:off x="10548" y="11280"/>
              <a:ext cx="282" cy="1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3" name="下箭头 94"/>
            <p:cNvSpPr/>
            <p:nvPr/>
          </p:nvSpPr>
          <p:spPr>
            <a:xfrm>
              <a:off x="7628" y="9175"/>
              <a:ext cx="363" cy="335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下箭头 94"/>
            <p:cNvSpPr/>
            <p:nvPr/>
          </p:nvSpPr>
          <p:spPr>
            <a:xfrm>
              <a:off x="7657" y="2846"/>
              <a:ext cx="334" cy="202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下箭头 94"/>
            <p:cNvSpPr/>
            <p:nvPr/>
          </p:nvSpPr>
          <p:spPr>
            <a:xfrm>
              <a:off x="7628" y="8025"/>
              <a:ext cx="363" cy="335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6982" y="871"/>
              <a:ext cx="1590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Apex Anchor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3459" y="2362"/>
              <a:ext cx="3461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Starting Point and Launch Bases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6393" y="1760"/>
              <a:ext cx="3100" cy="5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Rocket Transportation Route</a:t>
              </a:r>
              <a:endPara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250" y="2345"/>
              <a:ext cx="2788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Destination and Endpoint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 rot="19611046">
              <a:off x="5170" y="436"/>
              <a:ext cx="1609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Elevator Path</a:t>
              </a:r>
              <a:endParaRPr lang="zh-CN" alt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 rot="2126620">
              <a:off x="8757" y="473"/>
              <a:ext cx="1609" cy="5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Elevator Path</a:t>
              </a:r>
              <a:endParaRPr lang="zh-CN" alt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6134735" y="4093210"/>
            <a:ext cx="1411605" cy="2085975"/>
          </a:xfrm>
          <a:prstGeom prst="rect">
            <a:avLst/>
          </a:prstGeom>
          <a:solidFill>
            <a:srgbClr val="F7CBAE">
              <a:alpha val="42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598670" y="4058920"/>
            <a:ext cx="1440180" cy="2120265"/>
          </a:xfrm>
          <a:prstGeom prst="rect">
            <a:avLst/>
          </a:prstGeom>
          <a:solidFill>
            <a:srgbClr val="B1CDEC">
              <a:alpha val="69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081655" y="4065270"/>
            <a:ext cx="1436370" cy="2120265"/>
          </a:xfrm>
          <a:prstGeom prst="rect">
            <a:avLst/>
          </a:prstGeom>
          <a:solidFill>
            <a:srgbClr val="BBD6A5">
              <a:alpha val="53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581910" y="753255"/>
            <a:ext cx="4989195" cy="1809358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2569210" y="2759710"/>
            <a:ext cx="392430" cy="82867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38805" y="2759710"/>
            <a:ext cx="1373505" cy="226060"/>
          </a:xfrm>
          <a:prstGeom prst="rect">
            <a:avLst/>
          </a:prstGeom>
          <a:solidFill>
            <a:srgbClr val="BBD6A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/>
          <p:cNvSpPr/>
          <p:nvPr/>
        </p:nvSpPr>
        <p:spPr>
          <a:xfrm>
            <a:off x="4599305" y="2759710"/>
            <a:ext cx="1438910" cy="226060"/>
          </a:xfrm>
          <a:prstGeom prst="rect">
            <a:avLst/>
          </a:prstGeom>
          <a:solidFill>
            <a:srgbClr val="B1CDEC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144895" y="2759710"/>
            <a:ext cx="1357630" cy="226060"/>
          </a:xfrm>
          <a:prstGeom prst="rect">
            <a:avLst/>
          </a:prstGeom>
          <a:solidFill>
            <a:srgbClr val="F7CBAE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138805" y="3115310"/>
            <a:ext cx="4357370" cy="175260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138805" y="3438525"/>
            <a:ext cx="4357370" cy="182245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581910" y="3803015"/>
            <a:ext cx="392430" cy="238315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081655" y="3802380"/>
            <a:ext cx="1430655" cy="226060"/>
          </a:xfrm>
          <a:prstGeom prst="rect">
            <a:avLst/>
          </a:prstGeom>
          <a:solidFill>
            <a:srgbClr val="BBD6A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598670" y="3802380"/>
            <a:ext cx="1440180" cy="226060"/>
          </a:xfrm>
          <a:prstGeom prst="rect">
            <a:avLst/>
          </a:prstGeom>
          <a:solidFill>
            <a:srgbClr val="B1CDEC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134100" y="3802380"/>
            <a:ext cx="1412240" cy="226060"/>
          </a:xfrm>
          <a:prstGeom prst="rect">
            <a:avLst/>
          </a:prstGeom>
          <a:solidFill>
            <a:srgbClr val="F7CBAE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145155" y="4125595"/>
            <a:ext cx="1316355" cy="46609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51" name="矩形 50"/>
          <p:cNvSpPr/>
          <p:nvPr/>
        </p:nvSpPr>
        <p:spPr>
          <a:xfrm>
            <a:off x="3138805" y="4715510"/>
            <a:ext cx="1316355" cy="49212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651375" y="4131310"/>
            <a:ext cx="1336040" cy="46037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51375" y="4715510"/>
            <a:ext cx="1330325" cy="48514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209665" y="4121785"/>
            <a:ext cx="1285875" cy="44132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210300" y="4721860"/>
            <a:ext cx="1291590" cy="44958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138805" y="5381625"/>
            <a:ext cx="4350385" cy="20066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145155" y="5673725"/>
            <a:ext cx="4350385" cy="20066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145155" y="5965825"/>
            <a:ext cx="4350385" cy="18224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078480" y="2738120"/>
            <a:ext cx="4467225" cy="907415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1" name="直接箭头连接符 80"/>
          <p:cNvCxnSpPr>
            <a:stCxn id="57" idx="2"/>
            <a:endCxn id="58" idx="0"/>
          </p:cNvCxnSpPr>
          <p:nvPr/>
        </p:nvCxnSpPr>
        <p:spPr>
          <a:xfrm>
            <a:off x="5320665" y="5874385"/>
            <a:ext cx="0" cy="914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56" idx="2"/>
            <a:endCxn id="57" idx="0"/>
          </p:cNvCxnSpPr>
          <p:nvPr/>
        </p:nvCxnSpPr>
        <p:spPr>
          <a:xfrm>
            <a:off x="5314315" y="5582285"/>
            <a:ext cx="6350" cy="914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50" idx="2"/>
            <a:endCxn id="51" idx="0"/>
          </p:cNvCxnSpPr>
          <p:nvPr/>
        </p:nvCxnSpPr>
        <p:spPr>
          <a:xfrm flipH="1">
            <a:off x="3797300" y="4591685"/>
            <a:ext cx="6350" cy="12382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34" idx="2"/>
            <a:endCxn id="44" idx="0"/>
          </p:cNvCxnSpPr>
          <p:nvPr/>
        </p:nvCxnSpPr>
        <p:spPr>
          <a:xfrm flipH="1">
            <a:off x="5317490" y="2985770"/>
            <a:ext cx="1270" cy="12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52" idx="2"/>
            <a:endCxn id="53" idx="0"/>
          </p:cNvCxnSpPr>
          <p:nvPr/>
        </p:nvCxnSpPr>
        <p:spPr>
          <a:xfrm flipH="1">
            <a:off x="5316855" y="4591685"/>
            <a:ext cx="2540" cy="12382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54" idx="2"/>
            <a:endCxn id="55" idx="0"/>
          </p:cNvCxnSpPr>
          <p:nvPr/>
        </p:nvCxnSpPr>
        <p:spPr>
          <a:xfrm>
            <a:off x="6852920" y="4563110"/>
            <a:ext cx="3175" cy="15875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53" idx="2"/>
            <a:endCxn id="56" idx="0"/>
          </p:cNvCxnSpPr>
          <p:nvPr/>
        </p:nvCxnSpPr>
        <p:spPr>
          <a:xfrm flipH="1">
            <a:off x="5314315" y="5200650"/>
            <a:ext cx="2540" cy="18097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4" idx="2"/>
            <a:endCxn id="45" idx="0"/>
          </p:cNvCxnSpPr>
          <p:nvPr/>
        </p:nvCxnSpPr>
        <p:spPr>
          <a:xfrm>
            <a:off x="5317490" y="3290570"/>
            <a:ext cx="0" cy="14795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51" idx="2"/>
            <a:endCxn id="55" idx="2"/>
          </p:cNvCxnSpPr>
          <p:nvPr/>
        </p:nvCxnSpPr>
        <p:spPr>
          <a:xfrm rot="5400000" flipH="1" flipV="1">
            <a:off x="5308600" y="3659505"/>
            <a:ext cx="36195" cy="3058795"/>
          </a:xfrm>
          <a:prstGeom prst="bentConnector3">
            <a:avLst>
              <a:gd name="adj1" fmla="val -201754"/>
            </a:avLst>
          </a:prstGeom>
          <a:ln w="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下箭头 94"/>
          <p:cNvSpPr/>
          <p:nvPr/>
        </p:nvSpPr>
        <p:spPr>
          <a:xfrm>
            <a:off x="5250180" y="3646170"/>
            <a:ext cx="177165" cy="15684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8" name="组合 67"/>
          <p:cNvGrpSpPr/>
          <p:nvPr/>
        </p:nvGrpSpPr>
        <p:grpSpPr>
          <a:xfrm>
            <a:off x="2569210" y="371761"/>
            <a:ext cx="4991735" cy="241300"/>
            <a:chOff x="2556510" y="767715"/>
            <a:chExt cx="4991735" cy="241300"/>
          </a:xfrm>
        </p:grpSpPr>
        <p:sp>
          <p:nvSpPr>
            <p:cNvPr id="23" name="五边形 22"/>
            <p:cNvSpPr/>
            <p:nvPr/>
          </p:nvSpPr>
          <p:spPr>
            <a:xfrm>
              <a:off x="2556510" y="767715"/>
              <a:ext cx="939165" cy="241300"/>
            </a:xfrm>
            <a:prstGeom prst="homePlate">
              <a:avLst/>
            </a:prstGeom>
            <a:solidFill>
              <a:srgbClr val="AFC0E1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燕尾形 115"/>
            <p:cNvSpPr/>
            <p:nvPr/>
          </p:nvSpPr>
          <p:spPr>
            <a:xfrm>
              <a:off x="6751955" y="767715"/>
              <a:ext cx="796290" cy="241300"/>
            </a:xfrm>
            <a:prstGeom prst="chevron">
              <a:avLst/>
            </a:prstGeom>
            <a:solidFill>
              <a:srgbClr val="98B87B">
                <a:alpha val="83000"/>
              </a:srgbClr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7" name="燕尾形 116"/>
            <p:cNvSpPr/>
            <p:nvPr/>
          </p:nvSpPr>
          <p:spPr>
            <a:xfrm>
              <a:off x="5984240" y="767715"/>
              <a:ext cx="790575" cy="241300"/>
            </a:xfrm>
            <a:prstGeom prst="chevron">
              <a:avLst/>
            </a:prstGeom>
            <a:solidFill>
              <a:srgbClr val="B9CC95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燕尾形 117"/>
            <p:cNvSpPr/>
            <p:nvPr/>
          </p:nvSpPr>
          <p:spPr>
            <a:xfrm>
              <a:off x="5123815" y="767715"/>
              <a:ext cx="883285" cy="241300"/>
            </a:xfrm>
            <a:prstGeom prst="chevron">
              <a:avLst/>
            </a:prstGeom>
            <a:solidFill>
              <a:srgbClr val="ACD69B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燕尾形 118"/>
            <p:cNvSpPr/>
            <p:nvPr/>
          </p:nvSpPr>
          <p:spPr>
            <a:xfrm>
              <a:off x="4304665" y="767715"/>
              <a:ext cx="842010" cy="241300"/>
            </a:xfrm>
            <a:prstGeom prst="chevron">
              <a:avLst/>
            </a:prstGeom>
            <a:solidFill>
              <a:srgbClr val="AFDCBB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0" name="燕尾形 119"/>
            <p:cNvSpPr/>
            <p:nvPr/>
          </p:nvSpPr>
          <p:spPr>
            <a:xfrm>
              <a:off x="3455035" y="767715"/>
              <a:ext cx="872490" cy="241300"/>
            </a:xfrm>
            <a:prstGeom prst="chevron">
              <a:avLst/>
            </a:prstGeom>
            <a:solidFill>
              <a:srgbClr val="B8E1E4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3" name="图形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3425" y="3390900"/>
            <a:ext cx="57150" cy="762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3425" y="3390900"/>
            <a:ext cx="57150" cy="76200"/>
          </a:xfrm>
          <a:prstGeom prst="rect">
            <a:avLst/>
          </a:prstGeom>
        </p:spPr>
      </p:pic>
      <p:sp>
        <p:nvSpPr>
          <p:cNvPr id="9" name="earth_44386"/>
          <p:cNvSpPr/>
          <p:nvPr/>
        </p:nvSpPr>
        <p:spPr>
          <a:xfrm>
            <a:off x="463147" y="664199"/>
            <a:ext cx="609685" cy="608700"/>
          </a:xfrm>
          <a:custGeom>
            <a:avLst/>
            <a:gdLst>
              <a:gd name="T0" fmla="*/ 199 w 397"/>
              <a:gd name="T1" fmla="*/ 0 h 397"/>
              <a:gd name="T2" fmla="*/ 0 w 397"/>
              <a:gd name="T3" fmla="*/ 199 h 397"/>
              <a:gd name="T4" fmla="*/ 199 w 397"/>
              <a:gd name="T5" fmla="*/ 397 h 397"/>
              <a:gd name="T6" fmla="*/ 397 w 397"/>
              <a:gd name="T7" fmla="*/ 199 h 397"/>
              <a:gd name="T8" fmla="*/ 199 w 397"/>
              <a:gd name="T9" fmla="*/ 0 h 397"/>
              <a:gd name="T10" fmla="*/ 57 w 397"/>
              <a:gd name="T11" fmla="*/ 190 h 397"/>
              <a:gd name="T12" fmla="*/ 46 w 397"/>
              <a:gd name="T13" fmla="*/ 180 h 397"/>
              <a:gd name="T14" fmla="*/ 57 w 397"/>
              <a:gd name="T15" fmla="*/ 169 h 397"/>
              <a:gd name="T16" fmla="*/ 68 w 397"/>
              <a:gd name="T17" fmla="*/ 180 h 397"/>
              <a:gd name="T18" fmla="*/ 57 w 397"/>
              <a:gd name="T19" fmla="*/ 190 h 397"/>
              <a:gd name="T20" fmla="*/ 117 w 397"/>
              <a:gd name="T21" fmla="*/ 201 h 397"/>
              <a:gd name="T22" fmla="*/ 106 w 397"/>
              <a:gd name="T23" fmla="*/ 190 h 397"/>
              <a:gd name="T24" fmla="*/ 117 w 397"/>
              <a:gd name="T25" fmla="*/ 180 h 397"/>
              <a:gd name="T26" fmla="*/ 128 w 397"/>
              <a:gd name="T27" fmla="*/ 190 h 397"/>
              <a:gd name="T28" fmla="*/ 117 w 397"/>
              <a:gd name="T29" fmla="*/ 201 h 397"/>
              <a:gd name="T30" fmla="*/ 161 w 397"/>
              <a:gd name="T31" fmla="*/ 302 h 397"/>
              <a:gd name="T32" fmla="*/ 139 w 397"/>
              <a:gd name="T33" fmla="*/ 280 h 397"/>
              <a:gd name="T34" fmla="*/ 161 w 397"/>
              <a:gd name="T35" fmla="*/ 258 h 397"/>
              <a:gd name="T36" fmla="*/ 182 w 397"/>
              <a:gd name="T37" fmla="*/ 280 h 397"/>
              <a:gd name="T38" fmla="*/ 161 w 397"/>
              <a:gd name="T39" fmla="*/ 302 h 397"/>
              <a:gd name="T40" fmla="*/ 161 w 397"/>
              <a:gd name="T41" fmla="*/ 98 h 397"/>
              <a:gd name="T42" fmla="*/ 139 w 397"/>
              <a:gd name="T43" fmla="*/ 76 h 397"/>
              <a:gd name="T44" fmla="*/ 161 w 397"/>
              <a:gd name="T45" fmla="*/ 54 h 397"/>
              <a:gd name="T46" fmla="*/ 182 w 397"/>
              <a:gd name="T47" fmla="*/ 76 h 397"/>
              <a:gd name="T48" fmla="*/ 161 w 397"/>
              <a:gd name="T49" fmla="*/ 98 h 397"/>
              <a:gd name="T50" fmla="*/ 320 w 397"/>
              <a:gd name="T51" fmla="*/ 112 h 397"/>
              <a:gd name="T52" fmla="*/ 329 w 397"/>
              <a:gd name="T53" fmla="*/ 121 h 397"/>
              <a:gd name="T54" fmla="*/ 320 w 397"/>
              <a:gd name="T55" fmla="*/ 131 h 397"/>
              <a:gd name="T56" fmla="*/ 310 w 397"/>
              <a:gd name="T57" fmla="*/ 121 h 397"/>
              <a:gd name="T58" fmla="*/ 320 w 397"/>
              <a:gd name="T59" fmla="*/ 112 h 397"/>
              <a:gd name="T60" fmla="*/ 210 w 397"/>
              <a:gd name="T61" fmla="*/ 190 h 397"/>
              <a:gd name="T62" fmla="*/ 199 w 397"/>
              <a:gd name="T63" fmla="*/ 180 h 397"/>
              <a:gd name="T64" fmla="*/ 210 w 397"/>
              <a:gd name="T65" fmla="*/ 169 h 397"/>
              <a:gd name="T66" fmla="*/ 220 w 397"/>
              <a:gd name="T67" fmla="*/ 180 h 397"/>
              <a:gd name="T68" fmla="*/ 210 w 397"/>
              <a:gd name="T69" fmla="*/ 190 h 397"/>
              <a:gd name="T70" fmla="*/ 239 w 397"/>
              <a:gd name="T71" fmla="*/ 67 h 397"/>
              <a:gd name="T72" fmla="*/ 252 w 397"/>
              <a:gd name="T73" fmla="*/ 54 h 397"/>
              <a:gd name="T74" fmla="*/ 264 w 397"/>
              <a:gd name="T75" fmla="*/ 67 h 397"/>
              <a:gd name="T76" fmla="*/ 252 w 397"/>
              <a:gd name="T77" fmla="*/ 79 h 397"/>
              <a:gd name="T78" fmla="*/ 239 w 397"/>
              <a:gd name="T79" fmla="*/ 67 h 397"/>
              <a:gd name="T80" fmla="*/ 266 w 397"/>
              <a:gd name="T81" fmla="*/ 331 h 397"/>
              <a:gd name="T82" fmla="*/ 252 w 397"/>
              <a:gd name="T83" fmla="*/ 316 h 397"/>
              <a:gd name="T84" fmla="*/ 266 w 397"/>
              <a:gd name="T85" fmla="*/ 302 h 397"/>
              <a:gd name="T86" fmla="*/ 280 w 397"/>
              <a:gd name="T87" fmla="*/ 316 h 397"/>
              <a:gd name="T88" fmla="*/ 266 w 397"/>
              <a:gd name="T89" fmla="*/ 331 h 397"/>
              <a:gd name="T90" fmla="*/ 272 w 397"/>
              <a:gd name="T91" fmla="*/ 258 h 397"/>
              <a:gd name="T92" fmla="*/ 264 w 397"/>
              <a:gd name="T93" fmla="*/ 250 h 397"/>
              <a:gd name="T94" fmla="*/ 272 w 397"/>
              <a:gd name="T95" fmla="*/ 242 h 397"/>
              <a:gd name="T96" fmla="*/ 280 w 397"/>
              <a:gd name="T97" fmla="*/ 250 h 397"/>
              <a:gd name="T98" fmla="*/ 272 w 397"/>
              <a:gd name="T99" fmla="*/ 258 h 397"/>
              <a:gd name="T100" fmla="*/ 328 w 397"/>
              <a:gd name="T101" fmla="*/ 215 h 397"/>
              <a:gd name="T102" fmla="*/ 310 w 397"/>
              <a:gd name="T103" fmla="*/ 197 h 397"/>
              <a:gd name="T104" fmla="*/ 328 w 397"/>
              <a:gd name="T105" fmla="*/ 180 h 397"/>
              <a:gd name="T106" fmla="*/ 346 w 397"/>
              <a:gd name="T107" fmla="*/ 197 h 397"/>
              <a:gd name="T108" fmla="*/ 328 w 397"/>
              <a:gd name="T109" fmla="*/ 215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97" h="397">
                <a:moveTo>
                  <a:pt x="199" y="0"/>
                </a:moveTo>
                <a:cubicBezTo>
                  <a:pt x="89" y="0"/>
                  <a:pt x="0" y="89"/>
                  <a:pt x="0" y="199"/>
                </a:cubicBezTo>
                <a:cubicBezTo>
                  <a:pt x="0" y="308"/>
                  <a:pt x="89" y="397"/>
                  <a:pt x="199" y="397"/>
                </a:cubicBezTo>
                <a:cubicBezTo>
                  <a:pt x="308" y="397"/>
                  <a:pt x="397" y="308"/>
                  <a:pt x="397" y="199"/>
                </a:cubicBezTo>
                <a:cubicBezTo>
                  <a:pt x="397" y="89"/>
                  <a:pt x="308" y="0"/>
                  <a:pt x="199" y="0"/>
                </a:cubicBezTo>
                <a:close/>
                <a:moveTo>
                  <a:pt x="57" y="190"/>
                </a:moveTo>
                <a:cubicBezTo>
                  <a:pt x="51" y="190"/>
                  <a:pt x="46" y="186"/>
                  <a:pt x="46" y="180"/>
                </a:cubicBezTo>
                <a:cubicBezTo>
                  <a:pt x="46" y="174"/>
                  <a:pt x="51" y="169"/>
                  <a:pt x="57" y="169"/>
                </a:cubicBezTo>
                <a:cubicBezTo>
                  <a:pt x="63" y="169"/>
                  <a:pt x="68" y="174"/>
                  <a:pt x="68" y="180"/>
                </a:cubicBezTo>
                <a:cubicBezTo>
                  <a:pt x="68" y="186"/>
                  <a:pt x="63" y="190"/>
                  <a:pt x="57" y="190"/>
                </a:cubicBezTo>
                <a:close/>
                <a:moveTo>
                  <a:pt x="117" y="201"/>
                </a:moveTo>
                <a:cubicBezTo>
                  <a:pt x="111" y="201"/>
                  <a:pt x="106" y="196"/>
                  <a:pt x="106" y="190"/>
                </a:cubicBezTo>
                <a:cubicBezTo>
                  <a:pt x="106" y="184"/>
                  <a:pt x="111" y="180"/>
                  <a:pt x="117" y="180"/>
                </a:cubicBezTo>
                <a:cubicBezTo>
                  <a:pt x="123" y="180"/>
                  <a:pt x="128" y="184"/>
                  <a:pt x="128" y="190"/>
                </a:cubicBezTo>
                <a:cubicBezTo>
                  <a:pt x="128" y="196"/>
                  <a:pt x="123" y="201"/>
                  <a:pt x="117" y="201"/>
                </a:cubicBezTo>
                <a:close/>
                <a:moveTo>
                  <a:pt x="161" y="302"/>
                </a:moveTo>
                <a:cubicBezTo>
                  <a:pt x="149" y="302"/>
                  <a:pt x="139" y="292"/>
                  <a:pt x="139" y="280"/>
                </a:cubicBezTo>
                <a:cubicBezTo>
                  <a:pt x="139" y="268"/>
                  <a:pt x="149" y="258"/>
                  <a:pt x="161" y="258"/>
                </a:cubicBezTo>
                <a:cubicBezTo>
                  <a:pt x="173" y="258"/>
                  <a:pt x="182" y="268"/>
                  <a:pt x="182" y="280"/>
                </a:cubicBezTo>
                <a:cubicBezTo>
                  <a:pt x="182" y="292"/>
                  <a:pt x="173" y="302"/>
                  <a:pt x="161" y="302"/>
                </a:cubicBezTo>
                <a:close/>
                <a:moveTo>
                  <a:pt x="161" y="98"/>
                </a:moveTo>
                <a:cubicBezTo>
                  <a:pt x="149" y="98"/>
                  <a:pt x="139" y="88"/>
                  <a:pt x="139" y="76"/>
                </a:cubicBezTo>
                <a:cubicBezTo>
                  <a:pt x="139" y="64"/>
                  <a:pt x="149" y="54"/>
                  <a:pt x="161" y="54"/>
                </a:cubicBezTo>
                <a:cubicBezTo>
                  <a:pt x="173" y="54"/>
                  <a:pt x="182" y="64"/>
                  <a:pt x="182" y="76"/>
                </a:cubicBezTo>
                <a:cubicBezTo>
                  <a:pt x="182" y="88"/>
                  <a:pt x="173" y="98"/>
                  <a:pt x="161" y="98"/>
                </a:cubicBezTo>
                <a:close/>
                <a:moveTo>
                  <a:pt x="320" y="112"/>
                </a:moveTo>
                <a:cubicBezTo>
                  <a:pt x="325" y="112"/>
                  <a:pt x="329" y="116"/>
                  <a:pt x="329" y="121"/>
                </a:cubicBezTo>
                <a:cubicBezTo>
                  <a:pt x="329" y="126"/>
                  <a:pt x="325" y="131"/>
                  <a:pt x="320" y="131"/>
                </a:cubicBezTo>
                <a:cubicBezTo>
                  <a:pt x="314" y="131"/>
                  <a:pt x="310" y="126"/>
                  <a:pt x="310" y="121"/>
                </a:cubicBezTo>
                <a:cubicBezTo>
                  <a:pt x="310" y="116"/>
                  <a:pt x="314" y="112"/>
                  <a:pt x="320" y="112"/>
                </a:cubicBezTo>
                <a:close/>
                <a:moveTo>
                  <a:pt x="210" y="190"/>
                </a:moveTo>
                <a:cubicBezTo>
                  <a:pt x="204" y="190"/>
                  <a:pt x="199" y="186"/>
                  <a:pt x="199" y="180"/>
                </a:cubicBezTo>
                <a:cubicBezTo>
                  <a:pt x="199" y="174"/>
                  <a:pt x="204" y="169"/>
                  <a:pt x="210" y="169"/>
                </a:cubicBezTo>
                <a:cubicBezTo>
                  <a:pt x="216" y="169"/>
                  <a:pt x="220" y="174"/>
                  <a:pt x="220" y="180"/>
                </a:cubicBezTo>
                <a:cubicBezTo>
                  <a:pt x="220" y="186"/>
                  <a:pt x="216" y="190"/>
                  <a:pt x="210" y="190"/>
                </a:cubicBezTo>
                <a:close/>
                <a:moveTo>
                  <a:pt x="239" y="67"/>
                </a:moveTo>
                <a:cubicBezTo>
                  <a:pt x="239" y="60"/>
                  <a:pt x="245" y="54"/>
                  <a:pt x="252" y="54"/>
                </a:cubicBezTo>
                <a:cubicBezTo>
                  <a:pt x="258" y="54"/>
                  <a:pt x="264" y="60"/>
                  <a:pt x="264" y="67"/>
                </a:cubicBezTo>
                <a:cubicBezTo>
                  <a:pt x="264" y="73"/>
                  <a:pt x="258" y="79"/>
                  <a:pt x="252" y="79"/>
                </a:cubicBezTo>
                <a:cubicBezTo>
                  <a:pt x="245" y="79"/>
                  <a:pt x="239" y="73"/>
                  <a:pt x="239" y="67"/>
                </a:cubicBezTo>
                <a:close/>
                <a:moveTo>
                  <a:pt x="266" y="331"/>
                </a:moveTo>
                <a:cubicBezTo>
                  <a:pt x="258" y="331"/>
                  <a:pt x="252" y="324"/>
                  <a:pt x="252" y="316"/>
                </a:cubicBezTo>
                <a:cubicBezTo>
                  <a:pt x="252" y="308"/>
                  <a:pt x="258" y="302"/>
                  <a:pt x="266" y="302"/>
                </a:cubicBezTo>
                <a:cubicBezTo>
                  <a:pt x="274" y="302"/>
                  <a:pt x="280" y="308"/>
                  <a:pt x="280" y="316"/>
                </a:cubicBezTo>
                <a:cubicBezTo>
                  <a:pt x="280" y="324"/>
                  <a:pt x="274" y="331"/>
                  <a:pt x="266" y="331"/>
                </a:cubicBezTo>
                <a:close/>
                <a:moveTo>
                  <a:pt x="272" y="258"/>
                </a:moveTo>
                <a:cubicBezTo>
                  <a:pt x="268" y="258"/>
                  <a:pt x="264" y="255"/>
                  <a:pt x="264" y="250"/>
                </a:cubicBezTo>
                <a:cubicBezTo>
                  <a:pt x="264" y="246"/>
                  <a:pt x="268" y="242"/>
                  <a:pt x="272" y="242"/>
                </a:cubicBezTo>
                <a:cubicBezTo>
                  <a:pt x="277" y="242"/>
                  <a:pt x="280" y="246"/>
                  <a:pt x="280" y="250"/>
                </a:cubicBezTo>
                <a:cubicBezTo>
                  <a:pt x="280" y="255"/>
                  <a:pt x="277" y="258"/>
                  <a:pt x="272" y="258"/>
                </a:cubicBezTo>
                <a:close/>
                <a:moveTo>
                  <a:pt x="328" y="215"/>
                </a:moveTo>
                <a:cubicBezTo>
                  <a:pt x="318" y="215"/>
                  <a:pt x="310" y="207"/>
                  <a:pt x="310" y="197"/>
                </a:cubicBezTo>
                <a:cubicBezTo>
                  <a:pt x="310" y="187"/>
                  <a:pt x="318" y="180"/>
                  <a:pt x="328" y="180"/>
                </a:cubicBezTo>
                <a:cubicBezTo>
                  <a:pt x="338" y="180"/>
                  <a:pt x="346" y="187"/>
                  <a:pt x="346" y="197"/>
                </a:cubicBezTo>
                <a:cubicBezTo>
                  <a:pt x="346" y="207"/>
                  <a:pt x="338" y="215"/>
                  <a:pt x="328" y="21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808080"/>
              </a:solidFill>
            </a:endParaRPr>
          </a:p>
        </p:txBody>
      </p:sp>
      <p:pic>
        <p:nvPicPr>
          <p:cNvPr id="11" name="图形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3425" y="3390900"/>
            <a:ext cx="57150" cy="76200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017" y="1051560"/>
            <a:ext cx="710009" cy="946678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8691" y="1897406"/>
            <a:ext cx="556234" cy="556234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0336" y="2442067"/>
            <a:ext cx="556234" cy="556234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654" y="2453640"/>
            <a:ext cx="556234" cy="556234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032" y="2759710"/>
            <a:ext cx="556234" cy="556234"/>
          </a:xfrm>
          <a:prstGeom prst="rect">
            <a:avLst/>
          </a:prstGeom>
        </p:spPr>
      </p:pic>
      <p:sp>
        <p:nvSpPr>
          <p:cNvPr id="33" name="earth_44386"/>
          <p:cNvSpPr/>
          <p:nvPr/>
        </p:nvSpPr>
        <p:spPr>
          <a:xfrm>
            <a:off x="6451340" y="1803349"/>
            <a:ext cx="673755" cy="602879"/>
          </a:xfrm>
          <a:custGeom>
            <a:avLst/>
            <a:gdLst>
              <a:gd name="T0" fmla="*/ 199 w 397"/>
              <a:gd name="T1" fmla="*/ 0 h 397"/>
              <a:gd name="T2" fmla="*/ 0 w 397"/>
              <a:gd name="T3" fmla="*/ 199 h 397"/>
              <a:gd name="T4" fmla="*/ 199 w 397"/>
              <a:gd name="T5" fmla="*/ 397 h 397"/>
              <a:gd name="T6" fmla="*/ 397 w 397"/>
              <a:gd name="T7" fmla="*/ 199 h 397"/>
              <a:gd name="T8" fmla="*/ 199 w 397"/>
              <a:gd name="T9" fmla="*/ 0 h 397"/>
              <a:gd name="T10" fmla="*/ 57 w 397"/>
              <a:gd name="T11" fmla="*/ 190 h 397"/>
              <a:gd name="T12" fmla="*/ 46 w 397"/>
              <a:gd name="T13" fmla="*/ 180 h 397"/>
              <a:gd name="T14" fmla="*/ 57 w 397"/>
              <a:gd name="T15" fmla="*/ 169 h 397"/>
              <a:gd name="T16" fmla="*/ 68 w 397"/>
              <a:gd name="T17" fmla="*/ 180 h 397"/>
              <a:gd name="T18" fmla="*/ 57 w 397"/>
              <a:gd name="T19" fmla="*/ 190 h 397"/>
              <a:gd name="T20" fmla="*/ 117 w 397"/>
              <a:gd name="T21" fmla="*/ 201 h 397"/>
              <a:gd name="T22" fmla="*/ 106 w 397"/>
              <a:gd name="T23" fmla="*/ 190 h 397"/>
              <a:gd name="T24" fmla="*/ 117 w 397"/>
              <a:gd name="T25" fmla="*/ 180 h 397"/>
              <a:gd name="T26" fmla="*/ 128 w 397"/>
              <a:gd name="T27" fmla="*/ 190 h 397"/>
              <a:gd name="T28" fmla="*/ 117 w 397"/>
              <a:gd name="T29" fmla="*/ 201 h 397"/>
              <a:gd name="T30" fmla="*/ 161 w 397"/>
              <a:gd name="T31" fmla="*/ 302 h 397"/>
              <a:gd name="T32" fmla="*/ 139 w 397"/>
              <a:gd name="T33" fmla="*/ 280 h 397"/>
              <a:gd name="T34" fmla="*/ 161 w 397"/>
              <a:gd name="T35" fmla="*/ 258 h 397"/>
              <a:gd name="T36" fmla="*/ 182 w 397"/>
              <a:gd name="T37" fmla="*/ 280 h 397"/>
              <a:gd name="T38" fmla="*/ 161 w 397"/>
              <a:gd name="T39" fmla="*/ 302 h 397"/>
              <a:gd name="T40" fmla="*/ 161 w 397"/>
              <a:gd name="T41" fmla="*/ 98 h 397"/>
              <a:gd name="T42" fmla="*/ 139 w 397"/>
              <a:gd name="T43" fmla="*/ 76 h 397"/>
              <a:gd name="T44" fmla="*/ 161 w 397"/>
              <a:gd name="T45" fmla="*/ 54 h 397"/>
              <a:gd name="T46" fmla="*/ 182 w 397"/>
              <a:gd name="T47" fmla="*/ 76 h 397"/>
              <a:gd name="T48" fmla="*/ 161 w 397"/>
              <a:gd name="T49" fmla="*/ 98 h 397"/>
              <a:gd name="T50" fmla="*/ 320 w 397"/>
              <a:gd name="T51" fmla="*/ 112 h 397"/>
              <a:gd name="T52" fmla="*/ 329 w 397"/>
              <a:gd name="T53" fmla="*/ 121 h 397"/>
              <a:gd name="T54" fmla="*/ 320 w 397"/>
              <a:gd name="T55" fmla="*/ 131 h 397"/>
              <a:gd name="T56" fmla="*/ 310 w 397"/>
              <a:gd name="T57" fmla="*/ 121 h 397"/>
              <a:gd name="T58" fmla="*/ 320 w 397"/>
              <a:gd name="T59" fmla="*/ 112 h 397"/>
              <a:gd name="T60" fmla="*/ 210 w 397"/>
              <a:gd name="T61" fmla="*/ 190 h 397"/>
              <a:gd name="T62" fmla="*/ 199 w 397"/>
              <a:gd name="T63" fmla="*/ 180 h 397"/>
              <a:gd name="T64" fmla="*/ 210 w 397"/>
              <a:gd name="T65" fmla="*/ 169 h 397"/>
              <a:gd name="T66" fmla="*/ 220 w 397"/>
              <a:gd name="T67" fmla="*/ 180 h 397"/>
              <a:gd name="T68" fmla="*/ 210 w 397"/>
              <a:gd name="T69" fmla="*/ 190 h 397"/>
              <a:gd name="T70" fmla="*/ 239 w 397"/>
              <a:gd name="T71" fmla="*/ 67 h 397"/>
              <a:gd name="T72" fmla="*/ 252 w 397"/>
              <a:gd name="T73" fmla="*/ 54 h 397"/>
              <a:gd name="T74" fmla="*/ 264 w 397"/>
              <a:gd name="T75" fmla="*/ 67 h 397"/>
              <a:gd name="T76" fmla="*/ 252 w 397"/>
              <a:gd name="T77" fmla="*/ 79 h 397"/>
              <a:gd name="T78" fmla="*/ 239 w 397"/>
              <a:gd name="T79" fmla="*/ 67 h 397"/>
              <a:gd name="T80" fmla="*/ 266 w 397"/>
              <a:gd name="T81" fmla="*/ 331 h 397"/>
              <a:gd name="T82" fmla="*/ 252 w 397"/>
              <a:gd name="T83" fmla="*/ 316 h 397"/>
              <a:gd name="T84" fmla="*/ 266 w 397"/>
              <a:gd name="T85" fmla="*/ 302 h 397"/>
              <a:gd name="T86" fmla="*/ 280 w 397"/>
              <a:gd name="T87" fmla="*/ 316 h 397"/>
              <a:gd name="T88" fmla="*/ 266 w 397"/>
              <a:gd name="T89" fmla="*/ 331 h 397"/>
              <a:gd name="T90" fmla="*/ 272 w 397"/>
              <a:gd name="T91" fmla="*/ 258 h 397"/>
              <a:gd name="T92" fmla="*/ 264 w 397"/>
              <a:gd name="T93" fmla="*/ 250 h 397"/>
              <a:gd name="T94" fmla="*/ 272 w 397"/>
              <a:gd name="T95" fmla="*/ 242 h 397"/>
              <a:gd name="T96" fmla="*/ 280 w 397"/>
              <a:gd name="T97" fmla="*/ 250 h 397"/>
              <a:gd name="T98" fmla="*/ 272 w 397"/>
              <a:gd name="T99" fmla="*/ 258 h 397"/>
              <a:gd name="T100" fmla="*/ 328 w 397"/>
              <a:gd name="T101" fmla="*/ 215 h 397"/>
              <a:gd name="T102" fmla="*/ 310 w 397"/>
              <a:gd name="T103" fmla="*/ 197 h 397"/>
              <a:gd name="T104" fmla="*/ 328 w 397"/>
              <a:gd name="T105" fmla="*/ 180 h 397"/>
              <a:gd name="T106" fmla="*/ 346 w 397"/>
              <a:gd name="T107" fmla="*/ 197 h 397"/>
              <a:gd name="T108" fmla="*/ 328 w 397"/>
              <a:gd name="T109" fmla="*/ 215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97" h="397">
                <a:moveTo>
                  <a:pt x="199" y="0"/>
                </a:moveTo>
                <a:cubicBezTo>
                  <a:pt x="89" y="0"/>
                  <a:pt x="0" y="89"/>
                  <a:pt x="0" y="199"/>
                </a:cubicBezTo>
                <a:cubicBezTo>
                  <a:pt x="0" y="308"/>
                  <a:pt x="89" y="397"/>
                  <a:pt x="199" y="397"/>
                </a:cubicBezTo>
                <a:cubicBezTo>
                  <a:pt x="308" y="397"/>
                  <a:pt x="397" y="308"/>
                  <a:pt x="397" y="199"/>
                </a:cubicBezTo>
                <a:cubicBezTo>
                  <a:pt x="397" y="89"/>
                  <a:pt x="308" y="0"/>
                  <a:pt x="199" y="0"/>
                </a:cubicBezTo>
                <a:close/>
                <a:moveTo>
                  <a:pt x="57" y="190"/>
                </a:moveTo>
                <a:cubicBezTo>
                  <a:pt x="51" y="190"/>
                  <a:pt x="46" y="186"/>
                  <a:pt x="46" y="180"/>
                </a:cubicBezTo>
                <a:cubicBezTo>
                  <a:pt x="46" y="174"/>
                  <a:pt x="51" y="169"/>
                  <a:pt x="57" y="169"/>
                </a:cubicBezTo>
                <a:cubicBezTo>
                  <a:pt x="63" y="169"/>
                  <a:pt x="68" y="174"/>
                  <a:pt x="68" y="180"/>
                </a:cubicBezTo>
                <a:cubicBezTo>
                  <a:pt x="68" y="186"/>
                  <a:pt x="63" y="190"/>
                  <a:pt x="57" y="190"/>
                </a:cubicBezTo>
                <a:close/>
                <a:moveTo>
                  <a:pt x="117" y="201"/>
                </a:moveTo>
                <a:cubicBezTo>
                  <a:pt x="111" y="201"/>
                  <a:pt x="106" y="196"/>
                  <a:pt x="106" y="190"/>
                </a:cubicBezTo>
                <a:cubicBezTo>
                  <a:pt x="106" y="184"/>
                  <a:pt x="111" y="180"/>
                  <a:pt x="117" y="180"/>
                </a:cubicBezTo>
                <a:cubicBezTo>
                  <a:pt x="123" y="180"/>
                  <a:pt x="128" y="184"/>
                  <a:pt x="128" y="190"/>
                </a:cubicBezTo>
                <a:cubicBezTo>
                  <a:pt x="128" y="196"/>
                  <a:pt x="123" y="201"/>
                  <a:pt x="117" y="201"/>
                </a:cubicBezTo>
                <a:close/>
                <a:moveTo>
                  <a:pt x="161" y="302"/>
                </a:moveTo>
                <a:cubicBezTo>
                  <a:pt x="149" y="302"/>
                  <a:pt x="139" y="292"/>
                  <a:pt x="139" y="280"/>
                </a:cubicBezTo>
                <a:cubicBezTo>
                  <a:pt x="139" y="268"/>
                  <a:pt x="149" y="258"/>
                  <a:pt x="161" y="258"/>
                </a:cubicBezTo>
                <a:cubicBezTo>
                  <a:pt x="173" y="258"/>
                  <a:pt x="182" y="268"/>
                  <a:pt x="182" y="280"/>
                </a:cubicBezTo>
                <a:cubicBezTo>
                  <a:pt x="182" y="292"/>
                  <a:pt x="173" y="302"/>
                  <a:pt x="161" y="302"/>
                </a:cubicBezTo>
                <a:close/>
                <a:moveTo>
                  <a:pt x="161" y="98"/>
                </a:moveTo>
                <a:cubicBezTo>
                  <a:pt x="149" y="98"/>
                  <a:pt x="139" y="88"/>
                  <a:pt x="139" y="76"/>
                </a:cubicBezTo>
                <a:cubicBezTo>
                  <a:pt x="139" y="64"/>
                  <a:pt x="149" y="54"/>
                  <a:pt x="161" y="54"/>
                </a:cubicBezTo>
                <a:cubicBezTo>
                  <a:pt x="173" y="54"/>
                  <a:pt x="182" y="64"/>
                  <a:pt x="182" y="76"/>
                </a:cubicBezTo>
                <a:cubicBezTo>
                  <a:pt x="182" y="88"/>
                  <a:pt x="173" y="98"/>
                  <a:pt x="161" y="98"/>
                </a:cubicBezTo>
                <a:close/>
                <a:moveTo>
                  <a:pt x="320" y="112"/>
                </a:moveTo>
                <a:cubicBezTo>
                  <a:pt x="325" y="112"/>
                  <a:pt x="329" y="116"/>
                  <a:pt x="329" y="121"/>
                </a:cubicBezTo>
                <a:cubicBezTo>
                  <a:pt x="329" y="126"/>
                  <a:pt x="325" y="131"/>
                  <a:pt x="320" y="131"/>
                </a:cubicBezTo>
                <a:cubicBezTo>
                  <a:pt x="314" y="131"/>
                  <a:pt x="310" y="126"/>
                  <a:pt x="310" y="121"/>
                </a:cubicBezTo>
                <a:cubicBezTo>
                  <a:pt x="310" y="116"/>
                  <a:pt x="314" y="112"/>
                  <a:pt x="320" y="112"/>
                </a:cubicBezTo>
                <a:close/>
                <a:moveTo>
                  <a:pt x="210" y="190"/>
                </a:moveTo>
                <a:cubicBezTo>
                  <a:pt x="204" y="190"/>
                  <a:pt x="199" y="186"/>
                  <a:pt x="199" y="180"/>
                </a:cubicBezTo>
                <a:cubicBezTo>
                  <a:pt x="199" y="174"/>
                  <a:pt x="204" y="169"/>
                  <a:pt x="210" y="169"/>
                </a:cubicBezTo>
                <a:cubicBezTo>
                  <a:pt x="216" y="169"/>
                  <a:pt x="220" y="174"/>
                  <a:pt x="220" y="180"/>
                </a:cubicBezTo>
                <a:cubicBezTo>
                  <a:pt x="220" y="186"/>
                  <a:pt x="216" y="190"/>
                  <a:pt x="210" y="190"/>
                </a:cubicBezTo>
                <a:close/>
                <a:moveTo>
                  <a:pt x="239" y="67"/>
                </a:moveTo>
                <a:cubicBezTo>
                  <a:pt x="239" y="60"/>
                  <a:pt x="245" y="54"/>
                  <a:pt x="252" y="54"/>
                </a:cubicBezTo>
                <a:cubicBezTo>
                  <a:pt x="258" y="54"/>
                  <a:pt x="264" y="60"/>
                  <a:pt x="264" y="67"/>
                </a:cubicBezTo>
                <a:cubicBezTo>
                  <a:pt x="264" y="73"/>
                  <a:pt x="258" y="79"/>
                  <a:pt x="252" y="79"/>
                </a:cubicBezTo>
                <a:cubicBezTo>
                  <a:pt x="245" y="79"/>
                  <a:pt x="239" y="73"/>
                  <a:pt x="239" y="67"/>
                </a:cubicBezTo>
                <a:close/>
                <a:moveTo>
                  <a:pt x="266" y="331"/>
                </a:moveTo>
                <a:cubicBezTo>
                  <a:pt x="258" y="331"/>
                  <a:pt x="252" y="324"/>
                  <a:pt x="252" y="316"/>
                </a:cubicBezTo>
                <a:cubicBezTo>
                  <a:pt x="252" y="308"/>
                  <a:pt x="258" y="302"/>
                  <a:pt x="266" y="302"/>
                </a:cubicBezTo>
                <a:cubicBezTo>
                  <a:pt x="274" y="302"/>
                  <a:pt x="280" y="308"/>
                  <a:pt x="280" y="316"/>
                </a:cubicBezTo>
                <a:cubicBezTo>
                  <a:pt x="280" y="324"/>
                  <a:pt x="274" y="331"/>
                  <a:pt x="266" y="331"/>
                </a:cubicBezTo>
                <a:close/>
                <a:moveTo>
                  <a:pt x="272" y="258"/>
                </a:moveTo>
                <a:cubicBezTo>
                  <a:pt x="268" y="258"/>
                  <a:pt x="264" y="255"/>
                  <a:pt x="264" y="250"/>
                </a:cubicBezTo>
                <a:cubicBezTo>
                  <a:pt x="264" y="246"/>
                  <a:pt x="268" y="242"/>
                  <a:pt x="272" y="242"/>
                </a:cubicBezTo>
                <a:cubicBezTo>
                  <a:pt x="277" y="242"/>
                  <a:pt x="280" y="246"/>
                  <a:pt x="280" y="250"/>
                </a:cubicBezTo>
                <a:cubicBezTo>
                  <a:pt x="280" y="255"/>
                  <a:pt x="277" y="258"/>
                  <a:pt x="272" y="258"/>
                </a:cubicBezTo>
                <a:close/>
                <a:moveTo>
                  <a:pt x="328" y="215"/>
                </a:moveTo>
                <a:cubicBezTo>
                  <a:pt x="318" y="215"/>
                  <a:pt x="310" y="207"/>
                  <a:pt x="310" y="197"/>
                </a:cubicBezTo>
                <a:cubicBezTo>
                  <a:pt x="310" y="187"/>
                  <a:pt x="318" y="180"/>
                  <a:pt x="328" y="180"/>
                </a:cubicBezTo>
                <a:cubicBezTo>
                  <a:pt x="338" y="180"/>
                  <a:pt x="346" y="187"/>
                  <a:pt x="346" y="197"/>
                </a:cubicBezTo>
                <a:cubicBezTo>
                  <a:pt x="346" y="207"/>
                  <a:pt x="338" y="215"/>
                  <a:pt x="328" y="21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 dirty="0">
              <a:solidFill>
                <a:srgbClr val="808080"/>
              </a:solidFill>
            </a:endParaRPr>
          </a:p>
        </p:txBody>
      </p:sp>
      <p:cxnSp>
        <p:nvCxnSpPr>
          <p:cNvPr id="35" name="直接箭头连接符 17"/>
          <p:cNvCxnSpPr/>
          <p:nvPr/>
        </p:nvCxnSpPr>
        <p:spPr>
          <a:xfrm flipV="1">
            <a:off x="3559454" y="1085533"/>
            <a:ext cx="1088863" cy="674256"/>
          </a:xfrm>
          <a:prstGeom prst="straightConnector1">
            <a:avLst/>
          </a:prstGeom>
          <a:ln w="15875">
            <a:solidFill>
              <a:schemeClr val="tx2">
                <a:alpha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17"/>
          <p:cNvCxnSpPr/>
          <p:nvPr/>
        </p:nvCxnSpPr>
        <p:spPr>
          <a:xfrm>
            <a:off x="5546684" y="1113124"/>
            <a:ext cx="1178631" cy="646665"/>
          </a:xfrm>
          <a:prstGeom prst="straightConnector1">
            <a:avLst/>
          </a:prstGeom>
          <a:ln w="15875">
            <a:solidFill>
              <a:schemeClr val="tx2">
                <a:alpha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17"/>
          <p:cNvCxnSpPr/>
          <p:nvPr/>
        </p:nvCxnSpPr>
        <p:spPr>
          <a:xfrm>
            <a:off x="3888570" y="2116263"/>
            <a:ext cx="2505604" cy="0"/>
          </a:xfrm>
          <a:prstGeom prst="straightConnector1">
            <a:avLst/>
          </a:prstGeom>
          <a:ln w="15875">
            <a:solidFill>
              <a:schemeClr val="tx2">
                <a:alpha val="50000"/>
              </a:schemeClr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" name="图形 3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5400000">
            <a:off x="4946505" y="2135679"/>
            <a:ext cx="373742" cy="410771"/>
          </a:xfrm>
          <a:prstGeom prst="rect">
            <a:avLst/>
          </a:prstGeom>
        </p:spPr>
      </p:pic>
      <p:pic>
        <p:nvPicPr>
          <p:cNvPr id="41" name="图形 40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38792" y="1759789"/>
            <a:ext cx="673755" cy="817359"/>
          </a:xfrm>
          <a:prstGeom prst="rect">
            <a:avLst/>
          </a:prstGeom>
        </p:spPr>
      </p:pic>
      <p:pic>
        <p:nvPicPr>
          <p:cNvPr id="43" name="图形 42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rot="2710560">
            <a:off x="4869443" y="855970"/>
            <a:ext cx="456117" cy="4527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6134735" y="4093210"/>
            <a:ext cx="1411605" cy="2085975"/>
          </a:xfrm>
          <a:prstGeom prst="rect">
            <a:avLst/>
          </a:prstGeom>
          <a:solidFill>
            <a:srgbClr val="F7CBAE">
              <a:alpha val="42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598670" y="4058920"/>
            <a:ext cx="1440180" cy="2120265"/>
          </a:xfrm>
          <a:prstGeom prst="rect">
            <a:avLst/>
          </a:prstGeom>
          <a:solidFill>
            <a:srgbClr val="B1CDEC">
              <a:alpha val="69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081655" y="4065270"/>
            <a:ext cx="1436370" cy="2120265"/>
          </a:xfrm>
          <a:prstGeom prst="rect">
            <a:avLst/>
          </a:prstGeom>
          <a:solidFill>
            <a:srgbClr val="BBD6A5">
              <a:alpha val="53000"/>
            </a:srgbClr>
          </a:solidFill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3" name="五边形 22"/>
          <p:cNvSpPr/>
          <p:nvPr/>
        </p:nvSpPr>
        <p:spPr>
          <a:xfrm>
            <a:off x="2556510" y="767715"/>
            <a:ext cx="939165" cy="241300"/>
          </a:xfrm>
          <a:prstGeom prst="homePlate">
            <a:avLst/>
          </a:prstGeom>
          <a:solidFill>
            <a:srgbClr val="AFC0E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2611727" y="1127760"/>
            <a:ext cx="4989830" cy="1564640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圆角矩形 24"/>
          <p:cNvSpPr/>
          <p:nvPr/>
        </p:nvSpPr>
        <p:spPr>
          <a:xfrm>
            <a:off x="2656840" y="1127760"/>
            <a:ext cx="646430" cy="260985"/>
          </a:xfrm>
          <a:prstGeom prst="roundRect">
            <a:avLst/>
          </a:prstGeom>
          <a:solidFill>
            <a:srgbClr val="D5E9EA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圆角矩形 25"/>
          <p:cNvSpPr/>
          <p:nvPr/>
        </p:nvSpPr>
        <p:spPr>
          <a:xfrm>
            <a:off x="2656840" y="2051685"/>
            <a:ext cx="647065" cy="241300"/>
          </a:xfrm>
          <a:prstGeom prst="roundRect">
            <a:avLst/>
          </a:prstGeom>
          <a:solidFill>
            <a:srgbClr val="D5E9EA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3496310" y="1403350"/>
            <a:ext cx="486000" cy="179705"/>
          </a:xfrm>
          <a:prstGeom prst="roundRect">
            <a:avLst/>
          </a:prstGeom>
          <a:solidFill>
            <a:srgbClr val="D5E9EA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圆角矩形 27"/>
          <p:cNvSpPr/>
          <p:nvPr/>
        </p:nvSpPr>
        <p:spPr>
          <a:xfrm>
            <a:off x="4113340" y="1403350"/>
            <a:ext cx="486000" cy="180000"/>
          </a:xfrm>
          <a:prstGeom prst="roundRect">
            <a:avLst/>
          </a:prstGeom>
          <a:solidFill>
            <a:srgbClr val="E3EA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9" name="圆角矩形 28"/>
          <p:cNvSpPr/>
          <p:nvPr/>
        </p:nvSpPr>
        <p:spPr>
          <a:xfrm>
            <a:off x="4729925" y="1403350"/>
            <a:ext cx="486000" cy="1800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圆角矩形 29"/>
          <p:cNvSpPr/>
          <p:nvPr/>
        </p:nvSpPr>
        <p:spPr>
          <a:xfrm>
            <a:off x="5346510" y="1403350"/>
            <a:ext cx="486000" cy="1800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569210" y="2759710"/>
            <a:ext cx="392430" cy="82867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3138805" y="2759710"/>
            <a:ext cx="1373505" cy="226060"/>
          </a:xfrm>
          <a:prstGeom prst="rect">
            <a:avLst/>
          </a:prstGeom>
          <a:solidFill>
            <a:srgbClr val="BBD6A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/>
              <a:t>问题建模概念</a:t>
            </a:r>
            <a:endParaRPr lang="zh-CN" altLang="en-US" sz="1200" dirty="0"/>
          </a:p>
        </p:txBody>
      </p:sp>
      <p:sp>
        <p:nvSpPr>
          <p:cNvPr id="34" name="矩形 33"/>
          <p:cNvSpPr/>
          <p:nvPr/>
        </p:nvSpPr>
        <p:spPr>
          <a:xfrm>
            <a:off x="4599305" y="2759710"/>
            <a:ext cx="1438910" cy="226060"/>
          </a:xfrm>
          <a:prstGeom prst="rect">
            <a:avLst/>
          </a:prstGeom>
          <a:solidFill>
            <a:srgbClr val="B1CDEC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dirty="0">
                <a:sym typeface="+mn-ea"/>
              </a:rPr>
              <a:t>NSGA-II</a:t>
            </a:r>
            <a:r>
              <a:rPr lang="zh-CN" altLang="en-US" sz="1200" dirty="0">
                <a:sym typeface="+mn-ea"/>
              </a:rPr>
              <a:t>算法流程</a:t>
            </a:r>
            <a:endParaRPr lang="zh-CN" altLang="en-US" sz="1200" dirty="0"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144895" y="2759710"/>
            <a:ext cx="1357630" cy="226060"/>
          </a:xfrm>
          <a:prstGeom prst="rect">
            <a:avLst/>
          </a:prstGeom>
          <a:solidFill>
            <a:srgbClr val="F7CBAE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zh-CN" altLang="en-US" sz="1200" dirty="0">
                <a:sym typeface="+mn-ea"/>
              </a:rPr>
              <a:t>核心算法组件</a:t>
            </a:r>
            <a:endParaRPr lang="zh-CN" altLang="en-US" sz="1200" dirty="0">
              <a:sym typeface="+mn-ea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3138805" y="3115310"/>
            <a:ext cx="4357370" cy="175260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矩形 44"/>
          <p:cNvSpPr/>
          <p:nvPr/>
        </p:nvSpPr>
        <p:spPr>
          <a:xfrm>
            <a:off x="3138805" y="3438525"/>
            <a:ext cx="4357370" cy="182245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2581910" y="3803015"/>
            <a:ext cx="392430" cy="2383155"/>
          </a:xfrm>
          <a:prstGeom prst="rect">
            <a:avLst/>
          </a:prstGeom>
          <a:solidFill>
            <a:schemeClr val="bg1">
              <a:lumMod val="85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/>
          <p:cNvSpPr/>
          <p:nvPr/>
        </p:nvSpPr>
        <p:spPr>
          <a:xfrm>
            <a:off x="3081655" y="3802380"/>
            <a:ext cx="1430655" cy="226060"/>
          </a:xfrm>
          <a:prstGeom prst="rect">
            <a:avLst/>
          </a:prstGeom>
          <a:solidFill>
            <a:srgbClr val="BBD6A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48" name="矩形 47"/>
          <p:cNvSpPr/>
          <p:nvPr/>
        </p:nvSpPr>
        <p:spPr>
          <a:xfrm>
            <a:off x="4598670" y="3802380"/>
            <a:ext cx="1440180" cy="226060"/>
          </a:xfrm>
          <a:prstGeom prst="rect">
            <a:avLst/>
          </a:prstGeom>
          <a:solidFill>
            <a:srgbClr val="B1CDEC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/>
        </p:nvSpPr>
        <p:spPr>
          <a:xfrm>
            <a:off x="6134100" y="3802380"/>
            <a:ext cx="1412240" cy="226060"/>
          </a:xfrm>
          <a:prstGeom prst="rect">
            <a:avLst/>
          </a:prstGeom>
          <a:solidFill>
            <a:srgbClr val="F7CBAE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矩形 49"/>
          <p:cNvSpPr/>
          <p:nvPr/>
        </p:nvSpPr>
        <p:spPr>
          <a:xfrm>
            <a:off x="3145155" y="4125595"/>
            <a:ext cx="1316355" cy="46609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800" dirty="0"/>
          </a:p>
        </p:txBody>
      </p:sp>
      <p:sp>
        <p:nvSpPr>
          <p:cNvPr id="51" name="矩形 50"/>
          <p:cNvSpPr/>
          <p:nvPr/>
        </p:nvSpPr>
        <p:spPr>
          <a:xfrm>
            <a:off x="3138805" y="4715510"/>
            <a:ext cx="1316355" cy="49212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2" name="矩形 51"/>
          <p:cNvSpPr/>
          <p:nvPr/>
        </p:nvSpPr>
        <p:spPr>
          <a:xfrm>
            <a:off x="4651375" y="4131310"/>
            <a:ext cx="1336040" cy="46037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4651375" y="4715510"/>
            <a:ext cx="1330325" cy="48514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6209665" y="4121785"/>
            <a:ext cx="1285875" cy="44132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6210300" y="4721860"/>
            <a:ext cx="1291590" cy="44958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138805" y="5381625"/>
            <a:ext cx="4350385" cy="20066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3145155" y="5673725"/>
            <a:ext cx="4350385" cy="20066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3145155" y="5965825"/>
            <a:ext cx="4350385" cy="182245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3078480" y="2738120"/>
            <a:ext cx="4467225" cy="907415"/>
          </a:xfrm>
          <a:prstGeom prst="rect">
            <a:avLst/>
          </a:prstGeom>
          <a:noFill/>
          <a:ln w="0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圆角矩形 62"/>
          <p:cNvSpPr/>
          <p:nvPr/>
        </p:nvSpPr>
        <p:spPr>
          <a:xfrm>
            <a:off x="6043295" y="1619885"/>
            <a:ext cx="432000" cy="383540"/>
          </a:xfrm>
          <a:prstGeom prst="roundRect">
            <a:avLst/>
          </a:prstGeom>
          <a:solidFill>
            <a:srgbClr val="BBD6A5">
              <a:alpha val="54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6800850" y="1169035"/>
            <a:ext cx="504000" cy="14097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5" name="圆角矩形 64"/>
          <p:cNvSpPr/>
          <p:nvPr/>
        </p:nvSpPr>
        <p:spPr>
          <a:xfrm>
            <a:off x="6800850" y="1403350"/>
            <a:ext cx="504190" cy="90170"/>
          </a:xfrm>
          <a:prstGeom prst="roundRect">
            <a:avLst/>
          </a:prstGeom>
          <a:noFill/>
          <a:ln w="0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6" name="圆角矩形 65"/>
          <p:cNvSpPr/>
          <p:nvPr/>
        </p:nvSpPr>
        <p:spPr>
          <a:xfrm>
            <a:off x="6794500" y="1588135"/>
            <a:ext cx="504000" cy="140970"/>
          </a:xfrm>
          <a:prstGeom prst="roundRect">
            <a:avLst/>
          </a:prstGeom>
          <a:noFill/>
          <a:ln w="0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7" name="菱形 66"/>
          <p:cNvSpPr/>
          <p:nvPr/>
        </p:nvSpPr>
        <p:spPr>
          <a:xfrm>
            <a:off x="6794500" y="1818005"/>
            <a:ext cx="504190" cy="233680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9" name="圆角矩形 68"/>
          <p:cNvSpPr/>
          <p:nvPr/>
        </p:nvSpPr>
        <p:spPr>
          <a:xfrm>
            <a:off x="6693535" y="2221865"/>
            <a:ext cx="694690" cy="140970"/>
          </a:xfrm>
          <a:prstGeom prst="roundRect">
            <a:avLst/>
          </a:prstGeom>
          <a:solidFill>
            <a:srgbClr val="BBD6A5">
              <a:alpha val="99000"/>
            </a:srgbClr>
          </a:solidFill>
          <a:ln w="0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0" name="圆角矩形 69"/>
          <p:cNvSpPr/>
          <p:nvPr/>
        </p:nvSpPr>
        <p:spPr>
          <a:xfrm>
            <a:off x="6687185" y="2453640"/>
            <a:ext cx="701040" cy="140970"/>
          </a:xfrm>
          <a:prstGeom prst="roundRect">
            <a:avLst/>
          </a:prstGeom>
          <a:solidFill>
            <a:srgbClr val="E3EAF5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1" name="圆角矩形 70"/>
          <p:cNvSpPr/>
          <p:nvPr/>
        </p:nvSpPr>
        <p:spPr>
          <a:xfrm>
            <a:off x="3950335" y="1843405"/>
            <a:ext cx="473075" cy="10800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圆角矩形 74"/>
          <p:cNvSpPr/>
          <p:nvPr/>
        </p:nvSpPr>
        <p:spPr>
          <a:xfrm>
            <a:off x="3950335" y="2033955"/>
            <a:ext cx="473075" cy="10795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圆角矩形 75"/>
          <p:cNvSpPr/>
          <p:nvPr/>
        </p:nvSpPr>
        <p:spPr>
          <a:xfrm>
            <a:off x="3950335" y="2224455"/>
            <a:ext cx="473075" cy="10795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圆角矩形 76"/>
          <p:cNvSpPr/>
          <p:nvPr/>
        </p:nvSpPr>
        <p:spPr>
          <a:xfrm>
            <a:off x="3950335" y="2414955"/>
            <a:ext cx="473075" cy="107950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圆角矩形 77"/>
          <p:cNvSpPr/>
          <p:nvPr/>
        </p:nvSpPr>
        <p:spPr>
          <a:xfrm>
            <a:off x="6039485" y="2002790"/>
            <a:ext cx="431800" cy="550545"/>
          </a:xfrm>
          <a:prstGeom prst="round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9" name="菱形 78"/>
          <p:cNvSpPr/>
          <p:nvPr/>
        </p:nvSpPr>
        <p:spPr>
          <a:xfrm>
            <a:off x="5033010" y="1817370"/>
            <a:ext cx="536575" cy="260350"/>
          </a:xfrm>
          <a:prstGeom prst="diamond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80" name="圆角矩形 79"/>
          <p:cNvSpPr/>
          <p:nvPr/>
        </p:nvSpPr>
        <p:spPr>
          <a:xfrm>
            <a:off x="5033010" y="2246630"/>
            <a:ext cx="536575" cy="163195"/>
          </a:xfrm>
          <a:prstGeom prst="roundRect">
            <a:avLst/>
          </a:prstGeom>
          <a:solidFill>
            <a:srgbClr val="BBD6A5">
              <a:alpha val="54000"/>
            </a:srgb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81" name="直接箭头连接符 80"/>
          <p:cNvCxnSpPr>
            <a:stCxn id="57" idx="2"/>
            <a:endCxn id="58" idx="0"/>
          </p:cNvCxnSpPr>
          <p:nvPr/>
        </p:nvCxnSpPr>
        <p:spPr>
          <a:xfrm>
            <a:off x="5320665" y="5874385"/>
            <a:ext cx="0" cy="914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56" idx="2"/>
            <a:endCxn id="57" idx="0"/>
          </p:cNvCxnSpPr>
          <p:nvPr/>
        </p:nvCxnSpPr>
        <p:spPr>
          <a:xfrm>
            <a:off x="5314315" y="5582285"/>
            <a:ext cx="6350" cy="914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50" idx="2"/>
            <a:endCxn id="51" idx="0"/>
          </p:cNvCxnSpPr>
          <p:nvPr/>
        </p:nvCxnSpPr>
        <p:spPr>
          <a:xfrm flipH="1">
            <a:off x="3797300" y="4591685"/>
            <a:ext cx="6350" cy="12382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34" idx="2"/>
            <a:endCxn id="44" idx="0"/>
          </p:cNvCxnSpPr>
          <p:nvPr/>
        </p:nvCxnSpPr>
        <p:spPr>
          <a:xfrm flipH="1">
            <a:off x="5317490" y="2985770"/>
            <a:ext cx="1270" cy="12954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6" name="直接箭头连接符 85"/>
          <p:cNvCxnSpPr>
            <a:stCxn id="52" idx="2"/>
            <a:endCxn id="53" idx="0"/>
          </p:cNvCxnSpPr>
          <p:nvPr/>
        </p:nvCxnSpPr>
        <p:spPr>
          <a:xfrm flipH="1">
            <a:off x="5316855" y="4591685"/>
            <a:ext cx="2540" cy="12382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7" name="直接箭头连接符 86"/>
          <p:cNvCxnSpPr>
            <a:stCxn id="54" idx="2"/>
            <a:endCxn id="55" idx="0"/>
          </p:cNvCxnSpPr>
          <p:nvPr/>
        </p:nvCxnSpPr>
        <p:spPr>
          <a:xfrm>
            <a:off x="6852920" y="4563110"/>
            <a:ext cx="3175" cy="15875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直接箭头连接符 87"/>
          <p:cNvCxnSpPr>
            <a:stCxn id="53" idx="2"/>
            <a:endCxn id="56" idx="0"/>
          </p:cNvCxnSpPr>
          <p:nvPr/>
        </p:nvCxnSpPr>
        <p:spPr>
          <a:xfrm flipH="1">
            <a:off x="5314315" y="5200650"/>
            <a:ext cx="2540" cy="18097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9" name="直接箭头连接符 88"/>
          <p:cNvCxnSpPr>
            <a:stCxn id="64" idx="2"/>
            <a:endCxn id="65" idx="0"/>
          </p:cNvCxnSpPr>
          <p:nvPr/>
        </p:nvCxnSpPr>
        <p:spPr>
          <a:xfrm>
            <a:off x="7052945" y="1310005"/>
            <a:ext cx="0" cy="9334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0" name="直接箭头连接符 89"/>
          <p:cNvCxnSpPr>
            <a:stCxn id="26" idx="0"/>
            <a:endCxn id="25" idx="2"/>
          </p:cNvCxnSpPr>
          <p:nvPr/>
        </p:nvCxnSpPr>
        <p:spPr>
          <a:xfrm flipH="1" flipV="1">
            <a:off x="2980055" y="1388745"/>
            <a:ext cx="635" cy="66294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1" name="直接箭头连接符 90"/>
          <p:cNvCxnSpPr>
            <a:stCxn id="79" idx="2"/>
            <a:endCxn id="80" idx="0"/>
          </p:cNvCxnSpPr>
          <p:nvPr/>
        </p:nvCxnSpPr>
        <p:spPr>
          <a:xfrm>
            <a:off x="5301615" y="2077720"/>
            <a:ext cx="0" cy="16891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2" name="直接箭头连接符 91"/>
          <p:cNvCxnSpPr>
            <a:stCxn id="44" idx="2"/>
            <a:endCxn id="45" idx="0"/>
          </p:cNvCxnSpPr>
          <p:nvPr/>
        </p:nvCxnSpPr>
        <p:spPr>
          <a:xfrm>
            <a:off x="5317490" y="3290570"/>
            <a:ext cx="0" cy="14795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3" name="肘形连接符 92"/>
          <p:cNvCxnSpPr>
            <a:stCxn id="51" idx="2"/>
            <a:endCxn id="55" idx="2"/>
          </p:cNvCxnSpPr>
          <p:nvPr/>
        </p:nvCxnSpPr>
        <p:spPr>
          <a:xfrm rot="5400000" flipH="1" flipV="1">
            <a:off x="5308600" y="3659505"/>
            <a:ext cx="36195" cy="3058795"/>
          </a:xfrm>
          <a:prstGeom prst="bentConnector3">
            <a:avLst>
              <a:gd name="adj1" fmla="val -201754"/>
            </a:avLst>
          </a:prstGeom>
          <a:ln w="0">
            <a:solidFill>
              <a:schemeClr val="bg1">
                <a:lumMod val="50000"/>
              </a:schemeClr>
            </a:solidFill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下箭头 94"/>
          <p:cNvSpPr/>
          <p:nvPr/>
        </p:nvSpPr>
        <p:spPr>
          <a:xfrm>
            <a:off x="5250180" y="3646170"/>
            <a:ext cx="177165" cy="156845"/>
          </a:xfrm>
          <a:prstGeom prst="down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肘形连接符 95"/>
          <p:cNvCxnSpPr>
            <a:stCxn id="27" idx="2"/>
            <a:endCxn id="77" idx="1"/>
          </p:cNvCxnSpPr>
          <p:nvPr/>
        </p:nvCxnSpPr>
        <p:spPr>
          <a:xfrm rot="5400000" flipV="1">
            <a:off x="3402013" y="1920558"/>
            <a:ext cx="885825" cy="210820"/>
          </a:xfrm>
          <a:prstGeom prst="bentConnector2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7" name="直接箭头连接符 96"/>
          <p:cNvCxnSpPr>
            <a:stCxn id="27" idx="3"/>
            <a:endCxn id="28" idx="1"/>
          </p:cNvCxnSpPr>
          <p:nvPr/>
        </p:nvCxnSpPr>
        <p:spPr>
          <a:xfrm>
            <a:off x="3982085" y="1493520"/>
            <a:ext cx="131445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8" name="直接箭头连接符 97"/>
          <p:cNvCxnSpPr>
            <a:stCxn id="28" idx="3"/>
            <a:endCxn id="29" idx="1"/>
          </p:cNvCxnSpPr>
          <p:nvPr/>
        </p:nvCxnSpPr>
        <p:spPr>
          <a:xfrm>
            <a:off x="4599305" y="1493520"/>
            <a:ext cx="130810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9" name="直接箭头连接符 98"/>
          <p:cNvCxnSpPr>
            <a:stCxn id="29" idx="3"/>
            <a:endCxn id="30" idx="1"/>
          </p:cNvCxnSpPr>
          <p:nvPr/>
        </p:nvCxnSpPr>
        <p:spPr>
          <a:xfrm>
            <a:off x="5215890" y="1493520"/>
            <a:ext cx="130810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0" name="肘形连接符 99"/>
          <p:cNvCxnSpPr>
            <a:stCxn id="29" idx="2"/>
            <a:endCxn id="30" idx="2"/>
          </p:cNvCxnSpPr>
          <p:nvPr/>
        </p:nvCxnSpPr>
        <p:spPr>
          <a:xfrm rot="5400000" flipV="1">
            <a:off x="5280660" y="1274445"/>
            <a:ext cx="3175" cy="616585"/>
          </a:xfrm>
          <a:prstGeom prst="bentConnector3">
            <a:avLst>
              <a:gd name="adj1" fmla="val 334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1" name="直接箭头连接符 100"/>
          <p:cNvCxnSpPr>
            <a:endCxn id="79" idx="0"/>
          </p:cNvCxnSpPr>
          <p:nvPr/>
        </p:nvCxnSpPr>
        <p:spPr>
          <a:xfrm>
            <a:off x="5300980" y="1682115"/>
            <a:ext cx="635" cy="13525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2" name="直接箭头连接符 101"/>
          <p:cNvCxnSpPr>
            <a:stCxn id="80" idx="3"/>
          </p:cNvCxnSpPr>
          <p:nvPr/>
        </p:nvCxnSpPr>
        <p:spPr>
          <a:xfrm>
            <a:off x="5569585" y="2328545"/>
            <a:ext cx="461645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3" name="肘形连接符 102"/>
          <p:cNvCxnSpPr>
            <a:stCxn id="78" idx="3"/>
            <a:endCxn id="64" idx="1"/>
          </p:cNvCxnSpPr>
          <p:nvPr/>
        </p:nvCxnSpPr>
        <p:spPr>
          <a:xfrm flipV="1">
            <a:off x="6471285" y="1239520"/>
            <a:ext cx="329565" cy="1038860"/>
          </a:xfrm>
          <a:prstGeom prst="bentConnector3">
            <a:avLst>
              <a:gd name="adj1" fmla="val 50096"/>
            </a:avLst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65" idx="2"/>
            <a:endCxn id="66" idx="0"/>
          </p:cNvCxnSpPr>
          <p:nvPr/>
        </p:nvCxnSpPr>
        <p:spPr>
          <a:xfrm flipH="1">
            <a:off x="7046595" y="1493520"/>
            <a:ext cx="6350" cy="9461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5" name="直接箭头连接符 104"/>
          <p:cNvCxnSpPr>
            <a:stCxn id="66" idx="2"/>
            <a:endCxn id="67" idx="0"/>
          </p:cNvCxnSpPr>
          <p:nvPr/>
        </p:nvCxnSpPr>
        <p:spPr>
          <a:xfrm>
            <a:off x="7046595" y="1729105"/>
            <a:ext cx="0" cy="8890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6" name="直接箭头连接符 105"/>
          <p:cNvCxnSpPr>
            <a:stCxn id="67" idx="2"/>
            <a:endCxn id="69" idx="0"/>
          </p:cNvCxnSpPr>
          <p:nvPr/>
        </p:nvCxnSpPr>
        <p:spPr>
          <a:xfrm flipH="1">
            <a:off x="7040880" y="2051685"/>
            <a:ext cx="5715" cy="170180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7" name="直接箭头连接符 106"/>
          <p:cNvCxnSpPr>
            <a:stCxn id="69" idx="2"/>
            <a:endCxn id="70" idx="0"/>
          </p:cNvCxnSpPr>
          <p:nvPr/>
        </p:nvCxnSpPr>
        <p:spPr>
          <a:xfrm flipH="1">
            <a:off x="7037705" y="2362835"/>
            <a:ext cx="3175" cy="908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09" name="直接箭头连接符 108"/>
          <p:cNvCxnSpPr>
            <a:stCxn id="77" idx="3"/>
          </p:cNvCxnSpPr>
          <p:nvPr/>
        </p:nvCxnSpPr>
        <p:spPr>
          <a:xfrm>
            <a:off x="4423410" y="2468880"/>
            <a:ext cx="1607820" cy="1333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3" name="肘形连接符 112"/>
          <p:cNvCxnSpPr>
            <a:stCxn id="25" idx="3"/>
            <a:endCxn id="30" idx="0"/>
          </p:cNvCxnSpPr>
          <p:nvPr/>
        </p:nvCxnSpPr>
        <p:spPr>
          <a:xfrm>
            <a:off x="3303270" y="1258570"/>
            <a:ext cx="2286000" cy="144780"/>
          </a:xfrm>
          <a:prstGeom prst="bentConnector2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4" name="直接箭头连接符 113"/>
          <p:cNvCxnSpPr>
            <a:stCxn id="29" idx="0"/>
          </p:cNvCxnSpPr>
          <p:nvPr/>
        </p:nvCxnSpPr>
        <p:spPr>
          <a:xfrm flipV="1">
            <a:off x="4972685" y="1256665"/>
            <a:ext cx="0" cy="146685"/>
          </a:xfrm>
          <a:prstGeom prst="straightConnector1">
            <a:avLst/>
          </a:prstGeom>
          <a:ln w="0">
            <a:solidFill>
              <a:schemeClr val="tx1"/>
            </a:solidFill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5" name="肘形连接符 114"/>
          <p:cNvCxnSpPr>
            <a:stCxn id="67" idx="3"/>
            <a:endCxn id="64" idx="3"/>
          </p:cNvCxnSpPr>
          <p:nvPr/>
        </p:nvCxnSpPr>
        <p:spPr>
          <a:xfrm flipV="1">
            <a:off x="7298690" y="1239520"/>
            <a:ext cx="6350" cy="695325"/>
          </a:xfrm>
          <a:prstGeom prst="bentConnector3">
            <a:avLst>
              <a:gd name="adj1" fmla="val 27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6" name="燕尾形 115"/>
          <p:cNvSpPr/>
          <p:nvPr/>
        </p:nvSpPr>
        <p:spPr>
          <a:xfrm>
            <a:off x="6751955" y="767715"/>
            <a:ext cx="796290" cy="241300"/>
          </a:xfrm>
          <a:prstGeom prst="chevron">
            <a:avLst/>
          </a:prstGeom>
          <a:solidFill>
            <a:srgbClr val="98B87B">
              <a:alpha val="83000"/>
            </a:srgb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7" name="燕尾形 116"/>
          <p:cNvSpPr/>
          <p:nvPr/>
        </p:nvSpPr>
        <p:spPr>
          <a:xfrm>
            <a:off x="5984240" y="767715"/>
            <a:ext cx="790575" cy="241300"/>
          </a:xfrm>
          <a:prstGeom prst="chevron">
            <a:avLst/>
          </a:prstGeom>
          <a:solidFill>
            <a:srgbClr val="B9CC95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燕尾形 117"/>
          <p:cNvSpPr/>
          <p:nvPr/>
        </p:nvSpPr>
        <p:spPr>
          <a:xfrm>
            <a:off x="5123815" y="767715"/>
            <a:ext cx="883285" cy="241300"/>
          </a:xfrm>
          <a:prstGeom prst="chevron">
            <a:avLst/>
          </a:prstGeom>
          <a:solidFill>
            <a:srgbClr val="ACD69B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燕尾形 118"/>
          <p:cNvSpPr/>
          <p:nvPr/>
        </p:nvSpPr>
        <p:spPr>
          <a:xfrm>
            <a:off x="4304665" y="767715"/>
            <a:ext cx="842010" cy="241300"/>
          </a:xfrm>
          <a:prstGeom prst="chevron">
            <a:avLst/>
          </a:prstGeom>
          <a:solidFill>
            <a:srgbClr val="AFDCBB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0" name="燕尾形 119"/>
          <p:cNvSpPr/>
          <p:nvPr/>
        </p:nvSpPr>
        <p:spPr>
          <a:xfrm>
            <a:off x="3455035" y="767715"/>
            <a:ext cx="872490" cy="241300"/>
          </a:xfrm>
          <a:prstGeom prst="chevron">
            <a:avLst/>
          </a:prstGeom>
          <a:solidFill>
            <a:srgbClr val="B8E1E4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22" name="直接连接符 121"/>
          <p:cNvCxnSpPr>
            <a:stCxn id="71" idx="1"/>
          </p:cNvCxnSpPr>
          <p:nvPr/>
        </p:nvCxnSpPr>
        <p:spPr>
          <a:xfrm flipH="1">
            <a:off x="3738245" y="1897380"/>
            <a:ext cx="212090" cy="0"/>
          </a:xfrm>
          <a:prstGeom prst="line">
            <a:avLst/>
          </a:prstGeom>
          <a:ln w="0">
            <a:solidFill>
              <a:schemeClr val="tx1"/>
            </a:solidFill>
            <a:headEnd type="triangle"/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3" name="直接连接符 122"/>
          <p:cNvCxnSpPr>
            <a:stCxn id="75" idx="1"/>
          </p:cNvCxnSpPr>
          <p:nvPr/>
        </p:nvCxnSpPr>
        <p:spPr>
          <a:xfrm flipH="1">
            <a:off x="3738245" y="2087880"/>
            <a:ext cx="212090" cy="0"/>
          </a:xfrm>
          <a:prstGeom prst="line">
            <a:avLst/>
          </a:prstGeom>
          <a:ln w="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27" name="直接连接符 126"/>
          <p:cNvCxnSpPr>
            <a:stCxn id="76" idx="1"/>
          </p:cNvCxnSpPr>
          <p:nvPr/>
        </p:nvCxnSpPr>
        <p:spPr>
          <a:xfrm flipH="1">
            <a:off x="3743325" y="2278380"/>
            <a:ext cx="207010" cy="0"/>
          </a:xfrm>
          <a:prstGeom prst="line">
            <a:avLst/>
          </a:prstGeom>
          <a:ln w="0">
            <a:solidFill>
              <a:schemeClr val="tx1"/>
            </a:solidFill>
            <a:head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3425" y="3390900"/>
            <a:ext cx="57150" cy="76200"/>
          </a:xfrm>
          <a:prstGeom prst="rect">
            <a:avLst/>
          </a:prstGeom>
        </p:spPr>
      </p:pic>
      <p:pic>
        <p:nvPicPr>
          <p:cNvPr id="5" name="图形 4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3425" y="3390900"/>
            <a:ext cx="57150" cy="76200"/>
          </a:xfrm>
          <a:prstGeom prst="rect">
            <a:avLst/>
          </a:prstGeom>
        </p:spPr>
      </p:pic>
      <p:sp>
        <p:nvSpPr>
          <p:cNvPr id="9" name="earth_44386"/>
          <p:cNvSpPr/>
          <p:nvPr/>
        </p:nvSpPr>
        <p:spPr>
          <a:xfrm>
            <a:off x="1865323" y="1236477"/>
            <a:ext cx="609685" cy="608700"/>
          </a:xfrm>
          <a:custGeom>
            <a:avLst/>
            <a:gdLst>
              <a:gd name="T0" fmla="*/ 199 w 397"/>
              <a:gd name="T1" fmla="*/ 0 h 397"/>
              <a:gd name="T2" fmla="*/ 0 w 397"/>
              <a:gd name="T3" fmla="*/ 199 h 397"/>
              <a:gd name="T4" fmla="*/ 199 w 397"/>
              <a:gd name="T5" fmla="*/ 397 h 397"/>
              <a:gd name="T6" fmla="*/ 397 w 397"/>
              <a:gd name="T7" fmla="*/ 199 h 397"/>
              <a:gd name="T8" fmla="*/ 199 w 397"/>
              <a:gd name="T9" fmla="*/ 0 h 397"/>
              <a:gd name="T10" fmla="*/ 57 w 397"/>
              <a:gd name="T11" fmla="*/ 190 h 397"/>
              <a:gd name="T12" fmla="*/ 46 w 397"/>
              <a:gd name="T13" fmla="*/ 180 h 397"/>
              <a:gd name="T14" fmla="*/ 57 w 397"/>
              <a:gd name="T15" fmla="*/ 169 h 397"/>
              <a:gd name="T16" fmla="*/ 68 w 397"/>
              <a:gd name="T17" fmla="*/ 180 h 397"/>
              <a:gd name="T18" fmla="*/ 57 w 397"/>
              <a:gd name="T19" fmla="*/ 190 h 397"/>
              <a:gd name="T20" fmla="*/ 117 w 397"/>
              <a:gd name="T21" fmla="*/ 201 h 397"/>
              <a:gd name="T22" fmla="*/ 106 w 397"/>
              <a:gd name="T23" fmla="*/ 190 h 397"/>
              <a:gd name="T24" fmla="*/ 117 w 397"/>
              <a:gd name="T25" fmla="*/ 180 h 397"/>
              <a:gd name="T26" fmla="*/ 128 w 397"/>
              <a:gd name="T27" fmla="*/ 190 h 397"/>
              <a:gd name="T28" fmla="*/ 117 w 397"/>
              <a:gd name="T29" fmla="*/ 201 h 397"/>
              <a:gd name="T30" fmla="*/ 161 w 397"/>
              <a:gd name="T31" fmla="*/ 302 h 397"/>
              <a:gd name="T32" fmla="*/ 139 w 397"/>
              <a:gd name="T33" fmla="*/ 280 h 397"/>
              <a:gd name="T34" fmla="*/ 161 w 397"/>
              <a:gd name="T35" fmla="*/ 258 h 397"/>
              <a:gd name="T36" fmla="*/ 182 w 397"/>
              <a:gd name="T37" fmla="*/ 280 h 397"/>
              <a:gd name="T38" fmla="*/ 161 w 397"/>
              <a:gd name="T39" fmla="*/ 302 h 397"/>
              <a:gd name="T40" fmla="*/ 161 w 397"/>
              <a:gd name="T41" fmla="*/ 98 h 397"/>
              <a:gd name="T42" fmla="*/ 139 w 397"/>
              <a:gd name="T43" fmla="*/ 76 h 397"/>
              <a:gd name="T44" fmla="*/ 161 w 397"/>
              <a:gd name="T45" fmla="*/ 54 h 397"/>
              <a:gd name="T46" fmla="*/ 182 w 397"/>
              <a:gd name="T47" fmla="*/ 76 h 397"/>
              <a:gd name="T48" fmla="*/ 161 w 397"/>
              <a:gd name="T49" fmla="*/ 98 h 397"/>
              <a:gd name="T50" fmla="*/ 320 w 397"/>
              <a:gd name="T51" fmla="*/ 112 h 397"/>
              <a:gd name="T52" fmla="*/ 329 w 397"/>
              <a:gd name="T53" fmla="*/ 121 h 397"/>
              <a:gd name="T54" fmla="*/ 320 w 397"/>
              <a:gd name="T55" fmla="*/ 131 h 397"/>
              <a:gd name="T56" fmla="*/ 310 w 397"/>
              <a:gd name="T57" fmla="*/ 121 h 397"/>
              <a:gd name="T58" fmla="*/ 320 w 397"/>
              <a:gd name="T59" fmla="*/ 112 h 397"/>
              <a:gd name="T60" fmla="*/ 210 w 397"/>
              <a:gd name="T61" fmla="*/ 190 h 397"/>
              <a:gd name="T62" fmla="*/ 199 w 397"/>
              <a:gd name="T63" fmla="*/ 180 h 397"/>
              <a:gd name="T64" fmla="*/ 210 w 397"/>
              <a:gd name="T65" fmla="*/ 169 h 397"/>
              <a:gd name="T66" fmla="*/ 220 w 397"/>
              <a:gd name="T67" fmla="*/ 180 h 397"/>
              <a:gd name="T68" fmla="*/ 210 w 397"/>
              <a:gd name="T69" fmla="*/ 190 h 397"/>
              <a:gd name="T70" fmla="*/ 239 w 397"/>
              <a:gd name="T71" fmla="*/ 67 h 397"/>
              <a:gd name="T72" fmla="*/ 252 w 397"/>
              <a:gd name="T73" fmla="*/ 54 h 397"/>
              <a:gd name="T74" fmla="*/ 264 w 397"/>
              <a:gd name="T75" fmla="*/ 67 h 397"/>
              <a:gd name="T76" fmla="*/ 252 w 397"/>
              <a:gd name="T77" fmla="*/ 79 h 397"/>
              <a:gd name="T78" fmla="*/ 239 w 397"/>
              <a:gd name="T79" fmla="*/ 67 h 397"/>
              <a:gd name="T80" fmla="*/ 266 w 397"/>
              <a:gd name="T81" fmla="*/ 331 h 397"/>
              <a:gd name="T82" fmla="*/ 252 w 397"/>
              <a:gd name="T83" fmla="*/ 316 h 397"/>
              <a:gd name="T84" fmla="*/ 266 w 397"/>
              <a:gd name="T85" fmla="*/ 302 h 397"/>
              <a:gd name="T86" fmla="*/ 280 w 397"/>
              <a:gd name="T87" fmla="*/ 316 h 397"/>
              <a:gd name="T88" fmla="*/ 266 w 397"/>
              <a:gd name="T89" fmla="*/ 331 h 397"/>
              <a:gd name="T90" fmla="*/ 272 w 397"/>
              <a:gd name="T91" fmla="*/ 258 h 397"/>
              <a:gd name="T92" fmla="*/ 264 w 397"/>
              <a:gd name="T93" fmla="*/ 250 h 397"/>
              <a:gd name="T94" fmla="*/ 272 w 397"/>
              <a:gd name="T95" fmla="*/ 242 h 397"/>
              <a:gd name="T96" fmla="*/ 280 w 397"/>
              <a:gd name="T97" fmla="*/ 250 h 397"/>
              <a:gd name="T98" fmla="*/ 272 w 397"/>
              <a:gd name="T99" fmla="*/ 258 h 397"/>
              <a:gd name="T100" fmla="*/ 328 w 397"/>
              <a:gd name="T101" fmla="*/ 215 h 397"/>
              <a:gd name="T102" fmla="*/ 310 w 397"/>
              <a:gd name="T103" fmla="*/ 197 h 397"/>
              <a:gd name="T104" fmla="*/ 328 w 397"/>
              <a:gd name="T105" fmla="*/ 180 h 397"/>
              <a:gd name="T106" fmla="*/ 346 w 397"/>
              <a:gd name="T107" fmla="*/ 197 h 397"/>
              <a:gd name="T108" fmla="*/ 328 w 397"/>
              <a:gd name="T109" fmla="*/ 215 h 39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</a:cxnLst>
            <a:rect l="0" t="0" r="r" b="b"/>
            <a:pathLst>
              <a:path w="397" h="397">
                <a:moveTo>
                  <a:pt x="199" y="0"/>
                </a:moveTo>
                <a:cubicBezTo>
                  <a:pt x="89" y="0"/>
                  <a:pt x="0" y="89"/>
                  <a:pt x="0" y="199"/>
                </a:cubicBezTo>
                <a:cubicBezTo>
                  <a:pt x="0" y="308"/>
                  <a:pt x="89" y="397"/>
                  <a:pt x="199" y="397"/>
                </a:cubicBezTo>
                <a:cubicBezTo>
                  <a:pt x="308" y="397"/>
                  <a:pt x="397" y="308"/>
                  <a:pt x="397" y="199"/>
                </a:cubicBezTo>
                <a:cubicBezTo>
                  <a:pt x="397" y="89"/>
                  <a:pt x="308" y="0"/>
                  <a:pt x="199" y="0"/>
                </a:cubicBezTo>
                <a:close/>
                <a:moveTo>
                  <a:pt x="57" y="190"/>
                </a:moveTo>
                <a:cubicBezTo>
                  <a:pt x="51" y="190"/>
                  <a:pt x="46" y="186"/>
                  <a:pt x="46" y="180"/>
                </a:cubicBezTo>
                <a:cubicBezTo>
                  <a:pt x="46" y="174"/>
                  <a:pt x="51" y="169"/>
                  <a:pt x="57" y="169"/>
                </a:cubicBezTo>
                <a:cubicBezTo>
                  <a:pt x="63" y="169"/>
                  <a:pt x="68" y="174"/>
                  <a:pt x="68" y="180"/>
                </a:cubicBezTo>
                <a:cubicBezTo>
                  <a:pt x="68" y="186"/>
                  <a:pt x="63" y="190"/>
                  <a:pt x="57" y="190"/>
                </a:cubicBezTo>
                <a:close/>
                <a:moveTo>
                  <a:pt x="117" y="201"/>
                </a:moveTo>
                <a:cubicBezTo>
                  <a:pt x="111" y="201"/>
                  <a:pt x="106" y="196"/>
                  <a:pt x="106" y="190"/>
                </a:cubicBezTo>
                <a:cubicBezTo>
                  <a:pt x="106" y="184"/>
                  <a:pt x="111" y="180"/>
                  <a:pt x="117" y="180"/>
                </a:cubicBezTo>
                <a:cubicBezTo>
                  <a:pt x="123" y="180"/>
                  <a:pt x="128" y="184"/>
                  <a:pt x="128" y="190"/>
                </a:cubicBezTo>
                <a:cubicBezTo>
                  <a:pt x="128" y="196"/>
                  <a:pt x="123" y="201"/>
                  <a:pt x="117" y="201"/>
                </a:cubicBezTo>
                <a:close/>
                <a:moveTo>
                  <a:pt x="161" y="302"/>
                </a:moveTo>
                <a:cubicBezTo>
                  <a:pt x="149" y="302"/>
                  <a:pt x="139" y="292"/>
                  <a:pt x="139" y="280"/>
                </a:cubicBezTo>
                <a:cubicBezTo>
                  <a:pt x="139" y="268"/>
                  <a:pt x="149" y="258"/>
                  <a:pt x="161" y="258"/>
                </a:cubicBezTo>
                <a:cubicBezTo>
                  <a:pt x="173" y="258"/>
                  <a:pt x="182" y="268"/>
                  <a:pt x="182" y="280"/>
                </a:cubicBezTo>
                <a:cubicBezTo>
                  <a:pt x="182" y="292"/>
                  <a:pt x="173" y="302"/>
                  <a:pt x="161" y="302"/>
                </a:cubicBezTo>
                <a:close/>
                <a:moveTo>
                  <a:pt x="161" y="98"/>
                </a:moveTo>
                <a:cubicBezTo>
                  <a:pt x="149" y="98"/>
                  <a:pt x="139" y="88"/>
                  <a:pt x="139" y="76"/>
                </a:cubicBezTo>
                <a:cubicBezTo>
                  <a:pt x="139" y="64"/>
                  <a:pt x="149" y="54"/>
                  <a:pt x="161" y="54"/>
                </a:cubicBezTo>
                <a:cubicBezTo>
                  <a:pt x="173" y="54"/>
                  <a:pt x="182" y="64"/>
                  <a:pt x="182" y="76"/>
                </a:cubicBezTo>
                <a:cubicBezTo>
                  <a:pt x="182" y="88"/>
                  <a:pt x="173" y="98"/>
                  <a:pt x="161" y="98"/>
                </a:cubicBezTo>
                <a:close/>
                <a:moveTo>
                  <a:pt x="320" y="112"/>
                </a:moveTo>
                <a:cubicBezTo>
                  <a:pt x="325" y="112"/>
                  <a:pt x="329" y="116"/>
                  <a:pt x="329" y="121"/>
                </a:cubicBezTo>
                <a:cubicBezTo>
                  <a:pt x="329" y="126"/>
                  <a:pt x="325" y="131"/>
                  <a:pt x="320" y="131"/>
                </a:cubicBezTo>
                <a:cubicBezTo>
                  <a:pt x="314" y="131"/>
                  <a:pt x="310" y="126"/>
                  <a:pt x="310" y="121"/>
                </a:cubicBezTo>
                <a:cubicBezTo>
                  <a:pt x="310" y="116"/>
                  <a:pt x="314" y="112"/>
                  <a:pt x="320" y="112"/>
                </a:cubicBezTo>
                <a:close/>
                <a:moveTo>
                  <a:pt x="210" y="190"/>
                </a:moveTo>
                <a:cubicBezTo>
                  <a:pt x="204" y="190"/>
                  <a:pt x="199" y="186"/>
                  <a:pt x="199" y="180"/>
                </a:cubicBezTo>
                <a:cubicBezTo>
                  <a:pt x="199" y="174"/>
                  <a:pt x="204" y="169"/>
                  <a:pt x="210" y="169"/>
                </a:cubicBezTo>
                <a:cubicBezTo>
                  <a:pt x="216" y="169"/>
                  <a:pt x="220" y="174"/>
                  <a:pt x="220" y="180"/>
                </a:cubicBezTo>
                <a:cubicBezTo>
                  <a:pt x="220" y="186"/>
                  <a:pt x="216" y="190"/>
                  <a:pt x="210" y="190"/>
                </a:cubicBezTo>
                <a:close/>
                <a:moveTo>
                  <a:pt x="239" y="67"/>
                </a:moveTo>
                <a:cubicBezTo>
                  <a:pt x="239" y="60"/>
                  <a:pt x="245" y="54"/>
                  <a:pt x="252" y="54"/>
                </a:cubicBezTo>
                <a:cubicBezTo>
                  <a:pt x="258" y="54"/>
                  <a:pt x="264" y="60"/>
                  <a:pt x="264" y="67"/>
                </a:cubicBezTo>
                <a:cubicBezTo>
                  <a:pt x="264" y="73"/>
                  <a:pt x="258" y="79"/>
                  <a:pt x="252" y="79"/>
                </a:cubicBezTo>
                <a:cubicBezTo>
                  <a:pt x="245" y="79"/>
                  <a:pt x="239" y="73"/>
                  <a:pt x="239" y="67"/>
                </a:cubicBezTo>
                <a:close/>
                <a:moveTo>
                  <a:pt x="266" y="331"/>
                </a:moveTo>
                <a:cubicBezTo>
                  <a:pt x="258" y="331"/>
                  <a:pt x="252" y="324"/>
                  <a:pt x="252" y="316"/>
                </a:cubicBezTo>
                <a:cubicBezTo>
                  <a:pt x="252" y="308"/>
                  <a:pt x="258" y="302"/>
                  <a:pt x="266" y="302"/>
                </a:cubicBezTo>
                <a:cubicBezTo>
                  <a:pt x="274" y="302"/>
                  <a:pt x="280" y="308"/>
                  <a:pt x="280" y="316"/>
                </a:cubicBezTo>
                <a:cubicBezTo>
                  <a:pt x="280" y="324"/>
                  <a:pt x="274" y="331"/>
                  <a:pt x="266" y="331"/>
                </a:cubicBezTo>
                <a:close/>
                <a:moveTo>
                  <a:pt x="272" y="258"/>
                </a:moveTo>
                <a:cubicBezTo>
                  <a:pt x="268" y="258"/>
                  <a:pt x="264" y="255"/>
                  <a:pt x="264" y="250"/>
                </a:cubicBezTo>
                <a:cubicBezTo>
                  <a:pt x="264" y="246"/>
                  <a:pt x="268" y="242"/>
                  <a:pt x="272" y="242"/>
                </a:cubicBezTo>
                <a:cubicBezTo>
                  <a:pt x="277" y="242"/>
                  <a:pt x="280" y="246"/>
                  <a:pt x="280" y="250"/>
                </a:cubicBezTo>
                <a:cubicBezTo>
                  <a:pt x="280" y="255"/>
                  <a:pt x="277" y="258"/>
                  <a:pt x="272" y="258"/>
                </a:cubicBezTo>
                <a:close/>
                <a:moveTo>
                  <a:pt x="328" y="215"/>
                </a:moveTo>
                <a:cubicBezTo>
                  <a:pt x="318" y="215"/>
                  <a:pt x="310" y="207"/>
                  <a:pt x="310" y="197"/>
                </a:cubicBezTo>
                <a:cubicBezTo>
                  <a:pt x="310" y="187"/>
                  <a:pt x="318" y="180"/>
                  <a:pt x="328" y="180"/>
                </a:cubicBezTo>
                <a:cubicBezTo>
                  <a:pt x="338" y="180"/>
                  <a:pt x="346" y="187"/>
                  <a:pt x="346" y="197"/>
                </a:cubicBezTo>
                <a:cubicBezTo>
                  <a:pt x="346" y="207"/>
                  <a:pt x="338" y="215"/>
                  <a:pt x="328" y="215"/>
                </a:cubicBezTo>
                <a:close/>
              </a:path>
            </a:pathLst>
          </a:cu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>
              <a:solidFill>
                <a:srgbClr val="808080"/>
              </a:solidFill>
            </a:endParaRPr>
          </a:p>
        </p:txBody>
      </p:sp>
      <p:pic>
        <p:nvPicPr>
          <p:cNvPr id="11" name="图形 10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43425" y="3390900"/>
            <a:ext cx="57150" cy="76200"/>
          </a:xfrm>
          <a:prstGeom prst="rect">
            <a:avLst/>
          </a:prstGeom>
        </p:spPr>
      </p:pic>
      <p:pic>
        <p:nvPicPr>
          <p:cNvPr id="15" name="图形 14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5017" y="1051560"/>
            <a:ext cx="710009" cy="946678"/>
          </a:xfrm>
          <a:prstGeom prst="rect">
            <a:avLst/>
          </a:prstGeom>
        </p:spPr>
      </p:pic>
      <p:pic>
        <p:nvPicPr>
          <p:cNvPr id="17" name="图形 1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48691" y="1897406"/>
            <a:ext cx="556234" cy="556234"/>
          </a:xfrm>
          <a:prstGeom prst="rect">
            <a:avLst/>
          </a:prstGeom>
        </p:spPr>
      </p:pic>
      <p:pic>
        <p:nvPicPr>
          <p:cNvPr id="18" name="图形 17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60336" y="2442067"/>
            <a:ext cx="556234" cy="556234"/>
          </a:xfrm>
          <a:prstGeom prst="rect">
            <a:avLst/>
          </a:prstGeom>
        </p:spPr>
      </p:pic>
      <p:pic>
        <p:nvPicPr>
          <p:cNvPr id="19" name="图形 1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02654" y="2453640"/>
            <a:ext cx="556234" cy="556234"/>
          </a:xfrm>
          <a:prstGeom prst="rect">
            <a:avLst/>
          </a:prstGeom>
        </p:spPr>
      </p:pic>
      <p:pic>
        <p:nvPicPr>
          <p:cNvPr id="20" name="图形 1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94032" y="2759710"/>
            <a:ext cx="556234" cy="55623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879475" y="-106045"/>
            <a:ext cx="6867525" cy="9241155"/>
            <a:chOff x="1385" y="-167"/>
            <a:chExt cx="10815" cy="14553"/>
          </a:xfrm>
        </p:grpSpPr>
        <p:sp>
          <p:nvSpPr>
            <p:cNvPr id="35" name="矩形 34"/>
            <p:cNvSpPr/>
            <p:nvPr/>
          </p:nvSpPr>
          <p:spPr>
            <a:xfrm>
              <a:off x="3432" y="3044"/>
              <a:ext cx="8723" cy="6099"/>
            </a:xfrm>
            <a:prstGeom prst="rect">
              <a:avLst/>
            </a:prstGeom>
            <a:noFill/>
            <a:ln w="0">
              <a:solidFill>
                <a:schemeClr val="accent4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下箭头 94"/>
            <p:cNvSpPr/>
            <p:nvPr/>
          </p:nvSpPr>
          <p:spPr>
            <a:xfrm>
              <a:off x="7618" y="13437"/>
              <a:ext cx="423" cy="358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1" name="矩形 30"/>
                <p:cNvSpPr/>
                <p:nvPr/>
              </p:nvSpPr>
              <p:spPr>
                <a:xfrm>
                  <a:off x="6471" y="3213"/>
                  <a:ext cx="2571" cy="762"/>
                </a:xfrm>
                <a:prstGeom prst="rect">
                  <a:avLst/>
                </a:prstGeom>
                <a:solidFill>
                  <a:srgbClr val="B1CDEC"/>
                </a:solid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𝑝</m:t>
                          </m:r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1200" b="0" i="1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宋体" panose="02010600030101010101" pitchFamily="2" charset="-122"/>
                        </a:rPr>
                        <m:t>:</m:t>
                      </m:r>
                    </m:oMath>
                  </a14:m>
                  <a:r>
                    <a:rPr lang="en-US" altLang="zh-CN" sz="1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Annual cargo via elevator port p</a:t>
                  </a:r>
                  <a:endParaRPr lang="en-US" altLang="zh-CN" sz="1200" dirty="0">
                    <a:solidFill>
                      <a:prstClr val="black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31" name="矩形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71" y="3213"/>
                  <a:ext cx="2571" cy="762"/>
                </a:xfrm>
                <a:prstGeom prst="rect">
                  <a:avLst/>
                </a:prstGeom>
                <a:blipFill rotWithShape="1">
                  <a:blip r:embed="rId1"/>
                </a:blip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" name="矩形 31"/>
                <p:cNvSpPr/>
                <p:nvPr/>
              </p:nvSpPr>
              <p:spPr>
                <a:xfrm>
                  <a:off x="9493" y="3213"/>
                  <a:ext cx="2381" cy="795"/>
                </a:xfrm>
                <a:prstGeom prst="rect">
                  <a:avLst/>
                </a:prstGeom>
                <a:solidFill>
                  <a:srgbClr val="F6CAAD"/>
                </a:solid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vertOverflow="overflow" horzOverflow="overflow" vert="horz" wrap="square" numCol="1" spcCol="0" rtlCol="0" fromWordArt="0" anchor="ctr" anchorCtr="0" forceAA="0" compatLnSpc="1">
                  <a:noAutofit/>
                </a:bodyPr>
                <a:lstStyle/>
                <a:p>
                  <a:pPr lvl="0" algn="ctr">
                    <a:buClrTx/>
                    <a:buSzTx/>
                    <a:buFontTx/>
                  </a:pPr>
                  <a14:m>
                    <m:oMath xmlns:m="http://schemas.openxmlformats.org/officeDocument/2006/math">
                      <m:sSub>
                        <m:sSubPr>
                          <m:ctrlPr>
                            <a:rPr kumimoji="0" lang="zh-CN" altLang="zh-CN" sz="1200" b="0" i="1" u="none" strike="noStrike" kern="1200" cap="none" spc="0" normalizeH="0" baseline="0" noProof="0" smtClean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kumimoji="0" lang="en-US" altLang="zh-CN" sz="1200" b="0" i="1" u="none" strike="noStrike" kern="1200" cap="none" spc="0" normalizeH="0" baseline="0" noProof="0">
                              <a:ln>
                                <a:noFill/>
                              </a:ln>
                              <a:solidFill>
                                <a:prstClr val="black"/>
                              </a:solidFill>
                              <a:effectLst/>
                              <a:uLnTx/>
                              <a:uFillTx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  <m:r>
                        <a:rPr kumimoji="0" lang="en-US" altLang="zh-CN" sz="12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 Math" panose="02040503050406030204" pitchFamily="18" charset="0"/>
                          <a:ea typeface="宋体" panose="02010600030101010101" pitchFamily="2" charset="-122"/>
                          <a:cs typeface="Times New Roman" panose="02020603050405020304" pitchFamily="18" charset="0"/>
                        </a:rPr>
                        <m:t>:</m:t>
                      </m:r>
                    </m:oMath>
                  </a14:m>
                  <a:r>
                    <a:rPr lang="en-US" altLang="zh-CN" sz="1200" dirty="0">
                      <a:solidFill>
                        <a:prstClr val="black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  <a:cs typeface="Times New Roman" panose="02020603050405020304" pitchFamily="18" charset="0"/>
                    </a:rPr>
                    <a:t> Project completion in year t</a:t>
                  </a:r>
                  <a:endParaRPr lang="zh-CN" altLang="en-US" sz="1200" dirty="0">
                    <a:sym typeface="+mn-ea"/>
                  </a:endParaRPr>
                </a:p>
              </p:txBody>
            </p:sp>
          </mc:Choice>
          <mc:Fallback>
            <p:sp>
              <p:nvSpPr>
                <p:cNvPr id="32" name="矩形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493" y="3213"/>
                  <a:ext cx="2381" cy="795"/>
                </a:xfrm>
                <a:prstGeom prst="rect">
                  <a:avLst/>
                </a:prstGeom>
                <a:blipFill rotWithShape="1">
                  <a:blip r:embed="rId2"/>
                </a:blipFill>
                <a:ln w="0">
                  <a:solidFill>
                    <a:schemeClr val="bg1">
                      <a:lumMod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" name="矩形 41"/>
                <p:cNvSpPr/>
                <p:nvPr/>
              </p:nvSpPr>
              <p:spPr>
                <a:xfrm>
                  <a:off x="3754" y="3213"/>
                  <a:ext cx="2266" cy="771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𝑘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</m:oMath>
                  </a14:m>
                  <a:r>
                    <a:rPr lang="en-US" altLang="zh-CN" sz="1200" dirty="0">
                      <a:solidFill>
                        <a:schemeClr val="tx1"/>
                      </a:solidFill>
                    </a:rPr>
                    <a:t>: Annual rocket launches at site k</a:t>
                  </a:r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42" name="矩形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4" y="3213"/>
                  <a:ext cx="2266" cy="771"/>
                </a:xfrm>
                <a:prstGeom prst="rect">
                  <a:avLst/>
                </a:prstGeom>
                <a:blipFill rotWithShape="1">
                  <a:blip r:embed="rId3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8" name="圆角矩形 20"/>
            <p:cNvSpPr/>
            <p:nvPr/>
          </p:nvSpPr>
          <p:spPr>
            <a:xfrm>
              <a:off x="3477" y="5059"/>
              <a:ext cx="8561" cy="682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50" name="圆角矩形 20"/>
            <p:cNvSpPr/>
            <p:nvPr/>
          </p:nvSpPr>
          <p:spPr>
            <a:xfrm>
              <a:off x="3670" y="5908"/>
              <a:ext cx="8248" cy="2117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文本框 50"/>
                <p:cNvSpPr txBox="1"/>
                <p:nvPr/>
              </p:nvSpPr>
              <p:spPr>
                <a:xfrm>
                  <a:off x="5000" y="5908"/>
                  <a:ext cx="5488" cy="234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indent="127000" algn="ctr">
                    <a:buNone/>
                  </a:pPr>
                  <a:r>
                    <a:rPr lang="en-US" altLang="zh-CN" sz="1200" b="1" dirty="0"/>
                    <a:t>Constraints</a:t>
                  </a:r>
                  <a:r>
                    <a:rPr lang="zh-CN" altLang="en-US" sz="1200" dirty="0"/>
                    <a:t>：</a:t>
                  </a:r>
                  <a:endParaRPr lang="en-US" altLang="zh-CN" sz="1200" dirty="0"/>
                </a:p>
                <a:p>
                  <a:pPr indent="127000" algn="just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sSub>
                              <m:sSubPr>
                                <m:ctrlPr>
                                  <a:rPr lang="zh-CN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𝑚𝑎𝑥</m:t>
                                </m:r>
                              </m:sub>
                            </m:sSub>
                          </m:sup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10</m:t>
                            </m:r>
                          </m:sup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(</m:t>
                            </m:r>
                          </m:e>
                        </m:nary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𝐶𝑎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𝑟𝑜𝑐𝑘𝑒𝑡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⋅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)+</m:t>
                        </m:r>
                        <m:nary>
                          <m:naryPr>
                            <m:chr m:val="∑"/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3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𝑝</m:t>
                                </m:r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en-US" altLang="zh-CN" sz="1200" i="1" kern="10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  <a:cs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nary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)≥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𝐷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宋体" panose="02010600030101010101" pitchFamily="2" charset="-122"/>
                                <a:cs typeface="Cambria Math" panose="02040503050406030204" pitchFamily="18" charset="0"/>
                              </a:rPr>
                              <m:t>𝑡𝑜𝑡𝑎𝑙</m:t>
                            </m:r>
                          </m:sub>
                        </m:sSub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127000" algn="just"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𝑙𝑖𝑓𝑡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,∀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,∀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pPr indent="127000" algn="just">
                    <a:lnSpc>
                      <a:spcPct val="150000"/>
                    </a:lnSpc>
                    <a:buNone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0</m:t>
                        </m:r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zh-CN" sz="1200" i="1" kern="1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≤</m:t>
                        </m:r>
                        <m:sSub>
                          <m:sSubPr>
                            <m:ctrlPr>
                              <a:rPr lang="zh-CN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en-US" altLang="zh-CN" sz="1200" i="1" kern="1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oMath>
                    </m:oMathPara>
                  </a14:m>
                  <a:endParaRPr lang="zh-CN" altLang="zh-CN" sz="1200" kern="100" dirty="0">
                    <a:latin typeface="Times New Roman" panose="02020603050405020304" pitchFamily="18" charset="0"/>
                    <a:ea typeface="宋体" panose="02010600030101010101" pitchFamily="2" charset="-122"/>
                    <a:cs typeface="Times New Roman" panose="02020603050405020304" pitchFamily="18" charset="0"/>
                  </a:endParaRPr>
                </a:p>
                <a:p>
                  <a:endParaRPr lang="zh-CN" altLang="en-US" sz="1200" dirty="0"/>
                </a:p>
              </p:txBody>
            </p:sp>
          </mc:Choice>
          <mc:Fallback>
            <p:sp>
              <p:nvSpPr>
                <p:cNvPr id="51" name="文本框 5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00" y="5908"/>
                  <a:ext cx="5488" cy="2347"/>
                </a:xfrm>
                <a:prstGeom prst="rect">
                  <a:avLst/>
                </a:prstGeom>
                <a:blipFill rotWithShape="1">
                  <a:blip r:embed="rId4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9" name="文本框 48"/>
                <p:cNvSpPr txBox="1"/>
                <p:nvPr/>
              </p:nvSpPr>
              <p:spPr>
                <a:xfrm>
                  <a:off x="3374" y="5193"/>
                  <a:ext cx="8826" cy="6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no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>
                                  <a:latin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𝑟𝑜𝑐𝑘𝑒𝑡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en-US" altLang="zh-CN" sz="120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b="0" i="1" smtClean="0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𝐶𝑜𝑠𝑡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𝑙𝑖𝑓𝑡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>
                              <a:latin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))</m:t>
                      </m:r>
                    </m:oMath>
                  </a14:m>
                  <a:r>
                    <a:rPr lang="en-US" altLang="zh-CN" sz="12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   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𝑍</m:t>
                          </m:r>
                        </m:e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  <m:r>
                        <a:rPr lang="en-US" altLang="zh-CN" sz="1200" i="1" kern="100"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MS Mincho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 kern="100">
                                  <a:effectLst/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e>
                      </m:nary>
                      <m:r>
                        <a:rPr lang="en-US" altLang="zh-CN" sz="1200" i="1" kern="100">
                          <a:effectLst/>
                          <a:latin typeface="Cambria Math" panose="02040503050406030204" pitchFamily="18" charset="0"/>
                          <a:ea typeface="MS Mincho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 kern="100"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 kern="100"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</m:oMath>
                  </a14:m>
                  <a:endParaRPr lang="zh-CN" altLang="en-US" sz="12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>
            <p:sp>
              <p:nvSpPr>
                <p:cNvPr id="49" name="文本框 4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74" y="5193"/>
                  <a:ext cx="8826" cy="620"/>
                </a:xfrm>
                <a:prstGeom prst="rect">
                  <a:avLst/>
                </a:prstGeom>
                <a:blipFill rotWithShape="1">
                  <a:blip r:embed="rId5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矩形 53"/>
            <p:cNvSpPr/>
            <p:nvPr/>
          </p:nvSpPr>
          <p:spPr>
            <a:xfrm>
              <a:off x="4020" y="8360"/>
              <a:ext cx="7525" cy="389"/>
            </a:xfrm>
            <a:prstGeom prst="rect">
              <a:avLst/>
            </a:prstGeom>
            <a:solidFill>
              <a:srgbClr val="D5E9EA"/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Defines an NP-Hard Mixed-Integer Linear Programming (MILP) problem.</a:t>
              </a:r>
              <a:endParaRPr lang="zh-CN" altLang="en-US" sz="1200" dirty="0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0" name="文本框 59"/>
                <p:cNvSpPr txBox="1"/>
                <p:nvPr/>
              </p:nvSpPr>
              <p:spPr>
                <a:xfrm>
                  <a:off x="4020" y="4081"/>
                  <a:ext cx="7200" cy="73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200" i="1" smtClean="0">
                            <a:latin typeface="Cambria Math" panose="02040503050406030204" pitchFamily="18" charset="0"/>
                          </a:rPr>
                          <m:t>𝑀𝑖𝑛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sz="1200" i="1">
                            <a:latin typeface="Cambria Math" panose="02040503050406030204" pitchFamily="18" charset="0"/>
                          </a:rPr>
                          <m:t>𝑍</m:t>
                        </m:r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zh-CN" altLang="en-US" sz="12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zh-CN" altLang="en-US" sz="1200" i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zh-CN" altLang="en-US" sz="1200" i="0"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ctrlPr>
                              <a:rPr lang="zh-CN" altLang="en-US" sz="1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zh-CN" altLang="en-US" sz="1200" i="1">
                                    <a:latin typeface="Cambria Math" panose="02040503050406030204" pitchFamily="18" charset="0"/>
                                  </a:rPr>
                                  <m:t>𝑛𝑜𝑟𝑚</m:t>
                                </m:r>
                              </m:sub>
                            </m:sSub>
                          </m:den>
                        </m:f>
                      </m:oMath>
                    </m:oMathPara>
                  </a14:m>
                  <a:endParaRPr lang="zh-CN" altLang="en-US" sz="1200" dirty="0"/>
                </a:p>
              </p:txBody>
            </p:sp>
          </mc:Choice>
          <mc:Fallback>
            <p:sp>
              <p:nvSpPr>
                <p:cNvPr id="60" name="文本框 5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20" y="4081"/>
                  <a:ext cx="7200" cy="739"/>
                </a:xfrm>
                <a:prstGeom prst="rect">
                  <a:avLst/>
                </a:prstGeom>
                <a:blipFill rotWithShape="1">
                  <a:blip r:embed="rId6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1" name="圆角矩形 20"/>
            <p:cNvSpPr/>
            <p:nvPr/>
          </p:nvSpPr>
          <p:spPr>
            <a:xfrm>
              <a:off x="5496" y="4099"/>
              <a:ext cx="4351" cy="721"/>
            </a:xfrm>
            <a:prstGeom prst="roundRect">
              <a:avLst/>
            </a:prstGeom>
            <a:noFill/>
            <a:ln w="6350" cmpd="sng">
              <a:solidFill>
                <a:schemeClr val="tx1">
                  <a:lumMod val="50000"/>
                  <a:lumOff val="50000"/>
                </a:schemeClr>
              </a:solidFill>
              <a:prstDash val="dash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pitchFamily="34" charset="-122"/>
                <a:cs typeface="+mn-cs"/>
              </a:endParaRPr>
            </a:p>
          </p:txBody>
        </p:sp>
        <p:sp>
          <p:nvSpPr>
            <p:cNvPr id="62" name="矩形 61"/>
            <p:cNvSpPr/>
            <p:nvPr/>
          </p:nvSpPr>
          <p:spPr>
            <a:xfrm>
              <a:off x="3432" y="-167"/>
              <a:ext cx="8723" cy="2969"/>
            </a:xfrm>
            <a:prstGeom prst="rect">
              <a:avLst/>
            </a:prstGeom>
            <a:noFill/>
            <a:ln w="0">
              <a:solidFill>
                <a:schemeClr val="accent1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earth_44386"/>
            <p:cNvSpPr/>
            <p:nvPr/>
          </p:nvSpPr>
          <p:spPr>
            <a:xfrm>
              <a:off x="9998" y="1532"/>
              <a:ext cx="1061" cy="987"/>
            </a:xfrm>
            <a:custGeom>
              <a:avLst/>
              <a:gdLst>
                <a:gd name="T0" fmla="*/ 199 w 397"/>
                <a:gd name="T1" fmla="*/ 0 h 397"/>
                <a:gd name="T2" fmla="*/ 0 w 397"/>
                <a:gd name="T3" fmla="*/ 199 h 397"/>
                <a:gd name="T4" fmla="*/ 199 w 397"/>
                <a:gd name="T5" fmla="*/ 397 h 397"/>
                <a:gd name="T6" fmla="*/ 397 w 397"/>
                <a:gd name="T7" fmla="*/ 199 h 397"/>
                <a:gd name="T8" fmla="*/ 199 w 397"/>
                <a:gd name="T9" fmla="*/ 0 h 397"/>
                <a:gd name="T10" fmla="*/ 57 w 397"/>
                <a:gd name="T11" fmla="*/ 190 h 397"/>
                <a:gd name="T12" fmla="*/ 46 w 397"/>
                <a:gd name="T13" fmla="*/ 180 h 397"/>
                <a:gd name="T14" fmla="*/ 57 w 397"/>
                <a:gd name="T15" fmla="*/ 169 h 397"/>
                <a:gd name="T16" fmla="*/ 68 w 397"/>
                <a:gd name="T17" fmla="*/ 180 h 397"/>
                <a:gd name="T18" fmla="*/ 57 w 397"/>
                <a:gd name="T19" fmla="*/ 190 h 397"/>
                <a:gd name="T20" fmla="*/ 117 w 397"/>
                <a:gd name="T21" fmla="*/ 201 h 397"/>
                <a:gd name="T22" fmla="*/ 106 w 397"/>
                <a:gd name="T23" fmla="*/ 190 h 397"/>
                <a:gd name="T24" fmla="*/ 117 w 397"/>
                <a:gd name="T25" fmla="*/ 180 h 397"/>
                <a:gd name="T26" fmla="*/ 128 w 397"/>
                <a:gd name="T27" fmla="*/ 190 h 397"/>
                <a:gd name="T28" fmla="*/ 117 w 397"/>
                <a:gd name="T29" fmla="*/ 201 h 397"/>
                <a:gd name="T30" fmla="*/ 161 w 397"/>
                <a:gd name="T31" fmla="*/ 302 h 397"/>
                <a:gd name="T32" fmla="*/ 139 w 397"/>
                <a:gd name="T33" fmla="*/ 280 h 397"/>
                <a:gd name="T34" fmla="*/ 161 w 397"/>
                <a:gd name="T35" fmla="*/ 258 h 397"/>
                <a:gd name="T36" fmla="*/ 182 w 397"/>
                <a:gd name="T37" fmla="*/ 280 h 397"/>
                <a:gd name="T38" fmla="*/ 161 w 397"/>
                <a:gd name="T39" fmla="*/ 302 h 397"/>
                <a:gd name="T40" fmla="*/ 161 w 397"/>
                <a:gd name="T41" fmla="*/ 98 h 397"/>
                <a:gd name="T42" fmla="*/ 139 w 397"/>
                <a:gd name="T43" fmla="*/ 76 h 397"/>
                <a:gd name="T44" fmla="*/ 161 w 397"/>
                <a:gd name="T45" fmla="*/ 54 h 397"/>
                <a:gd name="T46" fmla="*/ 182 w 397"/>
                <a:gd name="T47" fmla="*/ 76 h 397"/>
                <a:gd name="T48" fmla="*/ 161 w 397"/>
                <a:gd name="T49" fmla="*/ 98 h 397"/>
                <a:gd name="T50" fmla="*/ 320 w 397"/>
                <a:gd name="T51" fmla="*/ 112 h 397"/>
                <a:gd name="T52" fmla="*/ 329 w 397"/>
                <a:gd name="T53" fmla="*/ 121 h 397"/>
                <a:gd name="T54" fmla="*/ 320 w 397"/>
                <a:gd name="T55" fmla="*/ 131 h 397"/>
                <a:gd name="T56" fmla="*/ 310 w 397"/>
                <a:gd name="T57" fmla="*/ 121 h 397"/>
                <a:gd name="T58" fmla="*/ 320 w 397"/>
                <a:gd name="T59" fmla="*/ 112 h 397"/>
                <a:gd name="T60" fmla="*/ 210 w 397"/>
                <a:gd name="T61" fmla="*/ 190 h 397"/>
                <a:gd name="T62" fmla="*/ 199 w 397"/>
                <a:gd name="T63" fmla="*/ 180 h 397"/>
                <a:gd name="T64" fmla="*/ 210 w 397"/>
                <a:gd name="T65" fmla="*/ 169 h 397"/>
                <a:gd name="T66" fmla="*/ 220 w 397"/>
                <a:gd name="T67" fmla="*/ 180 h 397"/>
                <a:gd name="T68" fmla="*/ 210 w 397"/>
                <a:gd name="T69" fmla="*/ 190 h 397"/>
                <a:gd name="T70" fmla="*/ 239 w 397"/>
                <a:gd name="T71" fmla="*/ 67 h 397"/>
                <a:gd name="T72" fmla="*/ 252 w 397"/>
                <a:gd name="T73" fmla="*/ 54 h 397"/>
                <a:gd name="T74" fmla="*/ 264 w 397"/>
                <a:gd name="T75" fmla="*/ 67 h 397"/>
                <a:gd name="T76" fmla="*/ 252 w 397"/>
                <a:gd name="T77" fmla="*/ 79 h 397"/>
                <a:gd name="T78" fmla="*/ 239 w 397"/>
                <a:gd name="T79" fmla="*/ 67 h 397"/>
                <a:gd name="T80" fmla="*/ 266 w 397"/>
                <a:gd name="T81" fmla="*/ 331 h 397"/>
                <a:gd name="T82" fmla="*/ 252 w 397"/>
                <a:gd name="T83" fmla="*/ 316 h 397"/>
                <a:gd name="T84" fmla="*/ 266 w 397"/>
                <a:gd name="T85" fmla="*/ 302 h 397"/>
                <a:gd name="T86" fmla="*/ 280 w 397"/>
                <a:gd name="T87" fmla="*/ 316 h 397"/>
                <a:gd name="T88" fmla="*/ 266 w 397"/>
                <a:gd name="T89" fmla="*/ 331 h 397"/>
                <a:gd name="T90" fmla="*/ 272 w 397"/>
                <a:gd name="T91" fmla="*/ 258 h 397"/>
                <a:gd name="T92" fmla="*/ 264 w 397"/>
                <a:gd name="T93" fmla="*/ 250 h 397"/>
                <a:gd name="T94" fmla="*/ 272 w 397"/>
                <a:gd name="T95" fmla="*/ 242 h 397"/>
                <a:gd name="T96" fmla="*/ 280 w 397"/>
                <a:gd name="T97" fmla="*/ 250 h 397"/>
                <a:gd name="T98" fmla="*/ 272 w 397"/>
                <a:gd name="T99" fmla="*/ 258 h 397"/>
                <a:gd name="T100" fmla="*/ 328 w 397"/>
                <a:gd name="T101" fmla="*/ 215 h 397"/>
                <a:gd name="T102" fmla="*/ 310 w 397"/>
                <a:gd name="T103" fmla="*/ 197 h 397"/>
                <a:gd name="T104" fmla="*/ 328 w 397"/>
                <a:gd name="T105" fmla="*/ 180 h 397"/>
                <a:gd name="T106" fmla="*/ 346 w 397"/>
                <a:gd name="T107" fmla="*/ 197 h 397"/>
                <a:gd name="T108" fmla="*/ 328 w 397"/>
                <a:gd name="T109" fmla="*/ 215 h 3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397">
                  <a:moveTo>
                    <a:pt x="199" y="0"/>
                  </a:moveTo>
                  <a:cubicBezTo>
                    <a:pt x="89" y="0"/>
                    <a:pt x="0" y="89"/>
                    <a:pt x="0" y="199"/>
                  </a:cubicBezTo>
                  <a:cubicBezTo>
                    <a:pt x="0" y="308"/>
                    <a:pt x="89" y="397"/>
                    <a:pt x="199" y="397"/>
                  </a:cubicBezTo>
                  <a:cubicBezTo>
                    <a:pt x="308" y="397"/>
                    <a:pt x="397" y="308"/>
                    <a:pt x="397" y="199"/>
                  </a:cubicBezTo>
                  <a:cubicBezTo>
                    <a:pt x="397" y="89"/>
                    <a:pt x="308" y="0"/>
                    <a:pt x="199" y="0"/>
                  </a:cubicBezTo>
                  <a:close/>
                  <a:moveTo>
                    <a:pt x="57" y="190"/>
                  </a:moveTo>
                  <a:cubicBezTo>
                    <a:pt x="51" y="190"/>
                    <a:pt x="46" y="186"/>
                    <a:pt x="46" y="180"/>
                  </a:cubicBezTo>
                  <a:cubicBezTo>
                    <a:pt x="46" y="174"/>
                    <a:pt x="51" y="169"/>
                    <a:pt x="57" y="169"/>
                  </a:cubicBezTo>
                  <a:cubicBezTo>
                    <a:pt x="63" y="169"/>
                    <a:pt x="68" y="174"/>
                    <a:pt x="68" y="180"/>
                  </a:cubicBezTo>
                  <a:cubicBezTo>
                    <a:pt x="68" y="186"/>
                    <a:pt x="63" y="190"/>
                    <a:pt x="57" y="190"/>
                  </a:cubicBezTo>
                  <a:close/>
                  <a:moveTo>
                    <a:pt x="117" y="201"/>
                  </a:moveTo>
                  <a:cubicBezTo>
                    <a:pt x="111" y="201"/>
                    <a:pt x="106" y="196"/>
                    <a:pt x="106" y="190"/>
                  </a:cubicBezTo>
                  <a:cubicBezTo>
                    <a:pt x="106" y="184"/>
                    <a:pt x="111" y="180"/>
                    <a:pt x="117" y="180"/>
                  </a:cubicBezTo>
                  <a:cubicBezTo>
                    <a:pt x="123" y="180"/>
                    <a:pt x="128" y="184"/>
                    <a:pt x="128" y="190"/>
                  </a:cubicBezTo>
                  <a:cubicBezTo>
                    <a:pt x="128" y="196"/>
                    <a:pt x="123" y="201"/>
                    <a:pt x="117" y="201"/>
                  </a:cubicBezTo>
                  <a:close/>
                  <a:moveTo>
                    <a:pt x="161" y="302"/>
                  </a:moveTo>
                  <a:cubicBezTo>
                    <a:pt x="149" y="302"/>
                    <a:pt x="139" y="292"/>
                    <a:pt x="139" y="280"/>
                  </a:cubicBezTo>
                  <a:cubicBezTo>
                    <a:pt x="139" y="268"/>
                    <a:pt x="149" y="258"/>
                    <a:pt x="161" y="258"/>
                  </a:cubicBezTo>
                  <a:cubicBezTo>
                    <a:pt x="173" y="258"/>
                    <a:pt x="182" y="268"/>
                    <a:pt x="182" y="280"/>
                  </a:cubicBezTo>
                  <a:cubicBezTo>
                    <a:pt x="182" y="292"/>
                    <a:pt x="173" y="302"/>
                    <a:pt x="161" y="302"/>
                  </a:cubicBezTo>
                  <a:close/>
                  <a:moveTo>
                    <a:pt x="161" y="98"/>
                  </a:moveTo>
                  <a:cubicBezTo>
                    <a:pt x="149" y="98"/>
                    <a:pt x="139" y="88"/>
                    <a:pt x="139" y="76"/>
                  </a:cubicBezTo>
                  <a:cubicBezTo>
                    <a:pt x="139" y="64"/>
                    <a:pt x="149" y="54"/>
                    <a:pt x="161" y="54"/>
                  </a:cubicBezTo>
                  <a:cubicBezTo>
                    <a:pt x="173" y="54"/>
                    <a:pt x="182" y="64"/>
                    <a:pt x="182" y="76"/>
                  </a:cubicBezTo>
                  <a:cubicBezTo>
                    <a:pt x="182" y="88"/>
                    <a:pt x="173" y="98"/>
                    <a:pt x="161" y="98"/>
                  </a:cubicBezTo>
                  <a:close/>
                  <a:moveTo>
                    <a:pt x="320" y="112"/>
                  </a:moveTo>
                  <a:cubicBezTo>
                    <a:pt x="325" y="112"/>
                    <a:pt x="329" y="116"/>
                    <a:pt x="329" y="121"/>
                  </a:cubicBezTo>
                  <a:cubicBezTo>
                    <a:pt x="329" y="126"/>
                    <a:pt x="325" y="131"/>
                    <a:pt x="320" y="131"/>
                  </a:cubicBezTo>
                  <a:cubicBezTo>
                    <a:pt x="314" y="131"/>
                    <a:pt x="310" y="126"/>
                    <a:pt x="310" y="121"/>
                  </a:cubicBezTo>
                  <a:cubicBezTo>
                    <a:pt x="310" y="116"/>
                    <a:pt x="314" y="112"/>
                    <a:pt x="320" y="112"/>
                  </a:cubicBezTo>
                  <a:close/>
                  <a:moveTo>
                    <a:pt x="210" y="190"/>
                  </a:moveTo>
                  <a:cubicBezTo>
                    <a:pt x="204" y="190"/>
                    <a:pt x="199" y="186"/>
                    <a:pt x="199" y="180"/>
                  </a:cubicBezTo>
                  <a:cubicBezTo>
                    <a:pt x="199" y="174"/>
                    <a:pt x="204" y="169"/>
                    <a:pt x="210" y="169"/>
                  </a:cubicBezTo>
                  <a:cubicBezTo>
                    <a:pt x="216" y="169"/>
                    <a:pt x="220" y="174"/>
                    <a:pt x="220" y="180"/>
                  </a:cubicBezTo>
                  <a:cubicBezTo>
                    <a:pt x="220" y="186"/>
                    <a:pt x="216" y="190"/>
                    <a:pt x="210" y="190"/>
                  </a:cubicBezTo>
                  <a:close/>
                  <a:moveTo>
                    <a:pt x="239" y="67"/>
                  </a:moveTo>
                  <a:cubicBezTo>
                    <a:pt x="239" y="60"/>
                    <a:pt x="245" y="54"/>
                    <a:pt x="252" y="54"/>
                  </a:cubicBezTo>
                  <a:cubicBezTo>
                    <a:pt x="258" y="54"/>
                    <a:pt x="264" y="60"/>
                    <a:pt x="264" y="67"/>
                  </a:cubicBezTo>
                  <a:cubicBezTo>
                    <a:pt x="264" y="73"/>
                    <a:pt x="258" y="79"/>
                    <a:pt x="252" y="79"/>
                  </a:cubicBezTo>
                  <a:cubicBezTo>
                    <a:pt x="245" y="79"/>
                    <a:pt x="239" y="73"/>
                    <a:pt x="239" y="67"/>
                  </a:cubicBezTo>
                  <a:close/>
                  <a:moveTo>
                    <a:pt x="266" y="331"/>
                  </a:moveTo>
                  <a:cubicBezTo>
                    <a:pt x="258" y="331"/>
                    <a:pt x="252" y="324"/>
                    <a:pt x="252" y="316"/>
                  </a:cubicBezTo>
                  <a:cubicBezTo>
                    <a:pt x="252" y="308"/>
                    <a:pt x="258" y="302"/>
                    <a:pt x="266" y="302"/>
                  </a:cubicBezTo>
                  <a:cubicBezTo>
                    <a:pt x="274" y="302"/>
                    <a:pt x="280" y="308"/>
                    <a:pt x="280" y="316"/>
                  </a:cubicBezTo>
                  <a:cubicBezTo>
                    <a:pt x="280" y="324"/>
                    <a:pt x="274" y="331"/>
                    <a:pt x="266" y="331"/>
                  </a:cubicBezTo>
                  <a:close/>
                  <a:moveTo>
                    <a:pt x="272" y="258"/>
                  </a:moveTo>
                  <a:cubicBezTo>
                    <a:pt x="268" y="258"/>
                    <a:pt x="264" y="255"/>
                    <a:pt x="264" y="250"/>
                  </a:cubicBezTo>
                  <a:cubicBezTo>
                    <a:pt x="264" y="246"/>
                    <a:pt x="268" y="242"/>
                    <a:pt x="272" y="242"/>
                  </a:cubicBezTo>
                  <a:cubicBezTo>
                    <a:pt x="277" y="242"/>
                    <a:pt x="280" y="246"/>
                    <a:pt x="280" y="250"/>
                  </a:cubicBezTo>
                  <a:cubicBezTo>
                    <a:pt x="280" y="255"/>
                    <a:pt x="277" y="258"/>
                    <a:pt x="272" y="258"/>
                  </a:cubicBezTo>
                  <a:close/>
                  <a:moveTo>
                    <a:pt x="328" y="215"/>
                  </a:moveTo>
                  <a:cubicBezTo>
                    <a:pt x="318" y="215"/>
                    <a:pt x="310" y="207"/>
                    <a:pt x="310" y="197"/>
                  </a:cubicBezTo>
                  <a:cubicBezTo>
                    <a:pt x="310" y="187"/>
                    <a:pt x="318" y="180"/>
                    <a:pt x="328" y="180"/>
                  </a:cubicBezTo>
                  <a:cubicBezTo>
                    <a:pt x="338" y="180"/>
                    <a:pt x="346" y="187"/>
                    <a:pt x="346" y="197"/>
                  </a:cubicBezTo>
                  <a:cubicBezTo>
                    <a:pt x="346" y="207"/>
                    <a:pt x="338" y="215"/>
                    <a:pt x="328" y="215"/>
                  </a:cubicBezTo>
                  <a:close/>
                </a:path>
              </a:pathLst>
            </a:custGeom>
            <a:solidFill>
              <a:srgbClr val="A6A6A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 dirty="0">
                <a:solidFill>
                  <a:srgbClr val="808080"/>
                </a:solidFill>
              </a:endParaRPr>
            </a:p>
          </p:txBody>
        </p:sp>
        <p:cxnSp>
          <p:nvCxnSpPr>
            <p:cNvPr id="64" name="直接箭头连接符 17"/>
            <p:cNvCxnSpPr/>
            <p:nvPr/>
          </p:nvCxnSpPr>
          <p:spPr>
            <a:xfrm flipV="1">
              <a:off x="5406" y="323"/>
              <a:ext cx="1715" cy="1062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直接箭头连接符 17"/>
            <p:cNvCxnSpPr/>
            <p:nvPr/>
          </p:nvCxnSpPr>
          <p:spPr>
            <a:xfrm>
              <a:off x="8536" y="367"/>
              <a:ext cx="1642" cy="1090"/>
            </a:xfrm>
            <a:prstGeom prst="straightConnector1">
              <a:avLst/>
            </a:prstGeom>
            <a:ln w="15875">
              <a:solidFill>
                <a:schemeClr val="accent1">
                  <a:alpha val="5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箭头连接符 17"/>
            <p:cNvCxnSpPr/>
            <p:nvPr/>
          </p:nvCxnSpPr>
          <p:spPr>
            <a:xfrm>
              <a:off x="5750" y="2106"/>
              <a:ext cx="3943" cy="0"/>
            </a:xfrm>
            <a:prstGeom prst="straightConnector1">
              <a:avLst/>
            </a:prstGeom>
            <a:ln w="19050">
              <a:solidFill>
                <a:srgbClr val="C00000">
                  <a:alpha val="50000"/>
                </a:srgb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7" name="图形 66"/>
            <p:cNvPicPr>
              <a:picLocks noChangeAspect="1"/>
            </p:cNvPicPr>
            <p:nvPr>
              <p:custDataLst>
                <p:tags r:id="rId7"/>
              </p:custDataLst>
            </p:nvPr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7414" y="2158"/>
              <a:ext cx="589" cy="647"/>
            </a:xfrm>
            <a:prstGeom prst="rect">
              <a:avLst/>
            </a:prstGeom>
          </p:spPr>
        </p:pic>
        <p:pic>
          <p:nvPicPr>
            <p:cNvPr id="68" name="图形 67"/>
            <p:cNvPicPr>
              <a:picLocks noChangeAspect="1"/>
            </p:cNvPicPr>
            <p:nvPr>
              <p:custDataLst>
                <p:tags r:id="rId10"/>
              </p:custDataLst>
            </p:nvPr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4345" y="1421"/>
              <a:ext cx="1061" cy="1287"/>
            </a:xfrm>
            <a:prstGeom prst="rect">
              <a:avLst/>
            </a:prstGeom>
          </p:spPr>
        </p:pic>
        <p:pic>
          <p:nvPicPr>
            <p:cNvPr id="69" name="图形 6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 rot="2710560">
              <a:off x="7435" y="10"/>
              <a:ext cx="718" cy="713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3" name="矩形 72"/>
                <p:cNvSpPr/>
                <p:nvPr/>
              </p:nvSpPr>
              <p:spPr>
                <a:xfrm>
                  <a:off x="3747" y="10812"/>
                  <a:ext cx="1407" cy="305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smtClean="0">
                                <a:solidFill>
                                  <a:schemeClr val="tx1"/>
                                </a:solidFill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sz="1200" i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CN" altLang="en-US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3" name="矩形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47" y="10812"/>
                  <a:ext cx="1407" cy="305"/>
                </a:xfrm>
                <a:prstGeom prst="rect">
                  <a:avLst/>
                </a:prstGeom>
                <a:blipFill rotWithShape="1">
                  <a:blip r:embed="rId16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矩形 73"/>
                <p:cNvSpPr/>
                <p:nvPr/>
              </p:nvSpPr>
              <p:spPr>
                <a:xfrm>
                  <a:off x="3758" y="11320"/>
                  <a:ext cx="1407" cy="305"/>
                </a:xfrm>
                <a:prstGeom prst="rect">
                  <a:avLst/>
                </a:prstGeom>
                <a:solidFill>
                  <a:srgbClr val="BBD6A5"/>
                </a:solid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zh-CN" altLang="zh-CN" sz="1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 sz="12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w</m:t>
                            </m:r>
                          </m:e>
                          <m:sub>
                            <m:r>
                              <a:rPr lang="en-US" altLang="zh-CN" sz="1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altLang="zh-CN" sz="1200" dirty="0">
                    <a:solidFill>
                      <a:schemeClr val="tx1"/>
                    </a:solidFill>
                  </a:endParaRPr>
                </a:p>
              </p:txBody>
            </p:sp>
          </mc:Choice>
          <mc:Fallback>
            <p:sp>
              <p:nvSpPr>
                <p:cNvPr id="74" name="矩形 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8" y="11320"/>
                  <a:ext cx="1407" cy="305"/>
                </a:xfrm>
                <a:prstGeom prst="rect">
                  <a:avLst/>
                </a:prstGeom>
                <a:blipFill rotWithShape="1">
                  <a:blip r:embed="rId17"/>
                </a:blipFill>
                <a:ln w="0">
                  <a:solidFill>
                    <a:schemeClr val="tx1">
                      <a:lumMod val="50000"/>
                      <a:lumOff val="50000"/>
                    </a:scheme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5" name="矩形: 圆角 74"/>
            <p:cNvSpPr/>
            <p:nvPr/>
          </p:nvSpPr>
          <p:spPr>
            <a:xfrm>
              <a:off x="5638" y="10180"/>
              <a:ext cx="1075" cy="2354"/>
            </a:xfrm>
            <a:prstGeom prst="roundRect">
              <a:avLst>
                <a:gd name="adj" fmla="val 0"/>
              </a:avLst>
            </a:prstGeom>
            <a:noFill/>
            <a:ln w="15875" cmpd="sng">
              <a:solidFill>
                <a:schemeClr val="tx1">
                  <a:lumMod val="75000"/>
                  <a:lumOff val="25000"/>
                </a:schemeClr>
              </a:solidFill>
              <a:prstDash val="sysDot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Code-level</a:t>
              </a:r>
              <a:endParaRPr lang="en-US" altLang="zh-CN" sz="12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</a:rPr>
                <a:t>Para-meters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6927" y="10279"/>
              <a:ext cx="1610" cy="397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POP_SIZE=100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7" name="矩形 76"/>
            <p:cNvSpPr/>
            <p:nvPr/>
          </p:nvSpPr>
          <p:spPr>
            <a:xfrm>
              <a:off x="6927" y="10875"/>
              <a:ext cx="2923" cy="312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altLang="zh-CN" sz="1000" dirty="0">
                  <a:solidFill>
                    <a:prstClr val="blac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MAX_GENERATIONS=1000 </a:t>
              </a:r>
              <a:endPara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8" name="矩形 77"/>
            <p:cNvSpPr/>
            <p:nvPr/>
          </p:nvSpPr>
          <p:spPr>
            <a:xfrm>
              <a:off x="6919" y="12337"/>
              <a:ext cx="2842" cy="348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PENALTY_WEIGHT=1</a:t>
              </a:r>
              <a:r>
                <a:rPr kumimoji="0" lang="en-US" altLang="zh-CN" sz="1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  <a:cs typeface="Times New Roman" panose="02020603050405020304" pitchFamily="18" charset="0"/>
                  <a:sym typeface="+mn-ea"/>
                </a:rPr>
                <a:t>e6</a:t>
              </a:r>
              <a:endPara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6912" y="11300"/>
              <a:ext cx="3473" cy="892"/>
            </a:xfrm>
            <a:prstGeom prst="rect">
              <a:avLst/>
            </a:prstGeom>
            <a:solidFill>
              <a:srgbClr val="DEEFE7"/>
            </a:solidFill>
            <a:ln w="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WEIGHT_RANGE=np.linspace(0,1,11)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80" name="圆角矩形 15"/>
            <p:cNvSpPr/>
            <p:nvPr/>
          </p:nvSpPr>
          <p:spPr>
            <a:xfrm>
              <a:off x="5578" y="9811"/>
              <a:ext cx="4910" cy="3188"/>
            </a:xfrm>
            <a:prstGeom prst="roundRect">
              <a:avLst/>
            </a:prstGeom>
            <a:noFill/>
            <a:ln w="9525">
              <a:solidFill>
                <a:srgbClr val="0070C0">
                  <a:alpha val="72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  <p:sp>
          <p:nvSpPr>
            <p:cNvPr id="81" name="圆角矩形 16"/>
            <p:cNvSpPr/>
            <p:nvPr/>
          </p:nvSpPr>
          <p:spPr>
            <a:xfrm>
              <a:off x="3610" y="10693"/>
              <a:ext cx="1697" cy="1067"/>
            </a:xfrm>
            <a:prstGeom prst="roundRect">
              <a:avLst>
                <a:gd name="adj" fmla="val 14974"/>
              </a:avLst>
            </a:prstGeom>
            <a:noFill/>
            <a:ln w="9525">
              <a:solidFill>
                <a:srgbClr val="0070C0">
                  <a:alpha val="72000"/>
                </a:srgb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200">
                <a:solidFill>
                  <a:schemeClr val="tx1"/>
                </a:solidFill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2" name="圆角矩形 17"/>
                <p:cNvSpPr/>
                <p:nvPr/>
              </p:nvSpPr>
              <p:spPr>
                <a:xfrm>
                  <a:off x="10863" y="10964"/>
                  <a:ext cx="1259" cy="588"/>
                </a:xfrm>
                <a:prstGeom prst="roundRect">
                  <a:avLst>
                    <a:gd name="adj" fmla="val 14974"/>
                  </a:avLst>
                </a:prstGeom>
                <a:solidFill>
                  <a:srgbClr val="F6CAAD"/>
                </a:solidFill>
                <a:ln w="9525">
                  <a:solidFill>
                    <a:srgbClr val="0070C0">
                      <a:alpha val="72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4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altLang="zh-CN" sz="14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𝑇𝑜𝑡𝑎𝑙</m:t>
                            </m:r>
                          </m:sub>
                        </m:sSub>
                      </m:oMath>
                    </m:oMathPara>
                  </a14:m>
                </a:p>
              </p:txBody>
            </p:sp>
          </mc:Choice>
          <mc:Fallback>
            <p:sp>
              <p:nvSpPr>
                <p:cNvPr id="82" name="圆角矩形 1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863" y="10964"/>
                  <a:ext cx="1259" cy="588"/>
                </a:xfrm>
                <a:prstGeom prst="roundRect">
                  <a:avLst>
                    <a:gd name="adj" fmla="val 14974"/>
                  </a:avLst>
                </a:prstGeom>
                <a:blipFill rotWithShape="1">
                  <a:blip r:embed="rId18"/>
                </a:blipFill>
                <a:ln w="9525">
                  <a:solidFill>
                    <a:srgbClr val="0070C0">
                      <a:alpha val="72000"/>
                    </a:srgbClr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83" name="直接箭头连接符 82"/>
            <p:cNvCxnSpPr/>
            <p:nvPr/>
          </p:nvCxnSpPr>
          <p:spPr>
            <a:xfrm>
              <a:off x="5348" y="11280"/>
              <a:ext cx="282" cy="1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4" name="直接箭头连接符 83"/>
            <p:cNvCxnSpPr>
              <a:endCxn id="76" idx="1"/>
            </p:cNvCxnSpPr>
            <p:nvPr/>
          </p:nvCxnSpPr>
          <p:spPr>
            <a:xfrm>
              <a:off x="6707" y="10477"/>
              <a:ext cx="220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5" name="直接箭头连接符 84"/>
            <p:cNvCxnSpPr>
              <a:endCxn id="77" idx="1"/>
            </p:cNvCxnSpPr>
            <p:nvPr/>
          </p:nvCxnSpPr>
          <p:spPr>
            <a:xfrm>
              <a:off x="6707" y="11031"/>
              <a:ext cx="220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6" name="直接箭头连接符 85"/>
            <p:cNvCxnSpPr>
              <a:endCxn id="79" idx="1"/>
            </p:cNvCxnSpPr>
            <p:nvPr/>
          </p:nvCxnSpPr>
          <p:spPr>
            <a:xfrm>
              <a:off x="6728" y="11746"/>
              <a:ext cx="184" cy="0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7" name="直接箭头连接符 86"/>
            <p:cNvCxnSpPr/>
            <p:nvPr/>
          </p:nvCxnSpPr>
          <p:spPr>
            <a:xfrm>
              <a:off x="6694" y="12513"/>
              <a:ext cx="227" cy="6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89" name="矩形 88"/>
            <p:cNvSpPr/>
            <p:nvPr/>
          </p:nvSpPr>
          <p:spPr>
            <a:xfrm>
              <a:off x="3477" y="9499"/>
              <a:ext cx="8723" cy="3888"/>
            </a:xfrm>
            <a:prstGeom prst="rect">
              <a:avLst/>
            </a:prstGeom>
            <a:noFill/>
            <a:ln w="0">
              <a:solidFill>
                <a:srgbClr val="F6CAAD"/>
              </a:solidFill>
              <a:prstDash val="sysDash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2" name="矩形 91"/>
            <p:cNvSpPr/>
            <p:nvPr/>
          </p:nvSpPr>
          <p:spPr>
            <a:xfrm>
              <a:off x="1385" y="840"/>
              <a:ext cx="1886" cy="692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STEP1: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Conceptual Layer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3" name="矩形 92"/>
            <p:cNvSpPr/>
            <p:nvPr/>
          </p:nvSpPr>
          <p:spPr>
            <a:xfrm>
              <a:off x="1553" y="5504"/>
              <a:ext cx="1660" cy="590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STEP2: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Algorithmic Layer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sp>
          <p:nvSpPr>
            <p:cNvPr id="95" name="矩形 94"/>
            <p:cNvSpPr/>
            <p:nvPr/>
          </p:nvSpPr>
          <p:spPr>
            <a:xfrm>
              <a:off x="1412" y="10597"/>
              <a:ext cx="1886" cy="497"/>
            </a:xfrm>
            <a:prstGeom prst="rect">
              <a:avLst/>
            </a:prstGeom>
            <a:noFill/>
            <a:ln w="0"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STEP3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Implementation Layer: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  <a:p>
              <a:pPr algn="ctr"/>
              <a:endPara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96" name="直接箭头连接符 95"/>
            <p:cNvCxnSpPr>
              <a:stCxn id="92" idx="2"/>
            </p:cNvCxnSpPr>
            <p:nvPr/>
          </p:nvCxnSpPr>
          <p:spPr>
            <a:xfrm>
              <a:off x="2328" y="1532"/>
              <a:ext cx="30" cy="3599"/>
            </a:xfrm>
            <a:prstGeom prst="straightConnector1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05" name="直接箭头连接符 104"/>
            <p:cNvCxnSpPr/>
            <p:nvPr/>
          </p:nvCxnSpPr>
          <p:spPr>
            <a:xfrm>
              <a:off x="2344" y="6163"/>
              <a:ext cx="5" cy="3797"/>
            </a:xfrm>
            <a:prstGeom prst="straightConnector1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115" name="肘形连接符 64"/>
            <p:cNvCxnSpPr/>
            <p:nvPr/>
          </p:nvCxnSpPr>
          <p:spPr>
            <a:xfrm rot="5400000" flipV="1">
              <a:off x="1634" y="11878"/>
              <a:ext cx="2812" cy="1414"/>
            </a:xfrm>
            <a:prstGeom prst="bentConnector2">
              <a:avLst/>
            </a:prstGeom>
            <a:ln w="0">
              <a:solidFill>
                <a:schemeClr val="bg1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0" name="缺角矩形 119"/>
            <p:cNvSpPr/>
            <p:nvPr/>
          </p:nvSpPr>
          <p:spPr>
            <a:xfrm>
              <a:off x="3965" y="13810"/>
              <a:ext cx="7748" cy="576"/>
            </a:xfrm>
            <a:prstGeom prst="plaque">
              <a:avLst/>
            </a:prstGeom>
            <a:solidFill>
              <a:schemeClr val="accent1">
                <a:lumMod val="20000"/>
                <a:lumOff val="80000"/>
              </a:schemeClr>
            </a:solidFill>
            <a:ln w="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+mn-ea"/>
                </a:rPr>
                <a:t>Hybrid Transportation System is the Optimized Solution</a:t>
              </a:r>
              <a:endPara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endParaRPr>
            </a:p>
          </p:txBody>
        </p:sp>
        <p:cxnSp>
          <p:nvCxnSpPr>
            <p:cNvPr id="121" name="直接箭头连接符 120"/>
            <p:cNvCxnSpPr/>
            <p:nvPr/>
          </p:nvCxnSpPr>
          <p:spPr>
            <a:xfrm>
              <a:off x="10548" y="11280"/>
              <a:ext cx="282" cy="1"/>
            </a:xfrm>
            <a:prstGeom prst="straightConnector1">
              <a:avLst/>
            </a:prstGeom>
            <a:ln w="0"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sp>
          <p:nvSpPr>
            <p:cNvPr id="123" name="下箭头 94"/>
            <p:cNvSpPr/>
            <p:nvPr/>
          </p:nvSpPr>
          <p:spPr>
            <a:xfrm>
              <a:off x="7628" y="9175"/>
              <a:ext cx="363" cy="335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4" name="下箭头 94"/>
            <p:cNvSpPr/>
            <p:nvPr/>
          </p:nvSpPr>
          <p:spPr>
            <a:xfrm>
              <a:off x="7657" y="2846"/>
              <a:ext cx="334" cy="202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下箭头 94"/>
            <p:cNvSpPr/>
            <p:nvPr/>
          </p:nvSpPr>
          <p:spPr>
            <a:xfrm>
              <a:off x="7628" y="8025"/>
              <a:ext cx="363" cy="335"/>
            </a:xfrm>
            <a:prstGeom prst="downArrow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文本框 134"/>
            <p:cNvSpPr txBox="1"/>
            <p:nvPr/>
          </p:nvSpPr>
          <p:spPr>
            <a:xfrm>
              <a:off x="6982" y="871"/>
              <a:ext cx="1590" cy="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Apex Anchor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6" name="文本框 135"/>
            <p:cNvSpPr txBox="1"/>
            <p:nvPr/>
          </p:nvSpPr>
          <p:spPr>
            <a:xfrm>
              <a:off x="3459" y="2362"/>
              <a:ext cx="3461" cy="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Starting Point and Launch Bases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文本框 136"/>
            <p:cNvSpPr txBox="1"/>
            <p:nvPr/>
          </p:nvSpPr>
          <p:spPr>
            <a:xfrm>
              <a:off x="6393" y="1760"/>
              <a:ext cx="3100" cy="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Rocket Transportation Route</a:t>
              </a:r>
              <a:endParaRPr lang="zh-CN" altLang="en-US" sz="12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8" name="文本框 137"/>
            <p:cNvSpPr txBox="1"/>
            <p:nvPr/>
          </p:nvSpPr>
          <p:spPr>
            <a:xfrm>
              <a:off x="9250" y="2345"/>
              <a:ext cx="2788" cy="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Destination and Endpoint</a:t>
              </a:r>
              <a:endPara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9" name="文本框 138"/>
            <p:cNvSpPr txBox="1"/>
            <p:nvPr/>
          </p:nvSpPr>
          <p:spPr>
            <a:xfrm rot="19611046">
              <a:off x="5170" y="436"/>
              <a:ext cx="1609" cy="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Elevator Path</a:t>
              </a:r>
              <a:endParaRPr lang="zh-CN" alt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0" name="文本框 139"/>
            <p:cNvSpPr txBox="1"/>
            <p:nvPr/>
          </p:nvSpPr>
          <p:spPr>
            <a:xfrm rot="2126620">
              <a:off x="8757" y="473"/>
              <a:ext cx="1609" cy="43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Elevator Path</a:t>
              </a:r>
              <a:endParaRPr lang="zh-CN" altLang="en-US"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56130" y="360680"/>
            <a:ext cx="5253990" cy="55899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0" name="肘形连接符 49"/>
          <p:cNvCxnSpPr>
            <a:stCxn id="29" idx="3"/>
            <a:endCxn id="16" idx="3"/>
          </p:cNvCxnSpPr>
          <p:nvPr/>
        </p:nvCxnSpPr>
        <p:spPr>
          <a:xfrm flipH="1">
            <a:off x="5552440" y="3585845"/>
            <a:ext cx="555625" cy="1996440"/>
          </a:xfrm>
          <a:prstGeom prst="bentConnector3">
            <a:avLst>
              <a:gd name="adj1" fmla="val -42857"/>
            </a:avLst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2834640" y="1425575"/>
            <a:ext cx="2160905" cy="3924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5038090" y="4024630"/>
            <a:ext cx="2156460" cy="36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835275" y="4024630"/>
            <a:ext cx="2159635" cy="36322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/>
          </a:p>
        </p:txBody>
      </p:sp>
      <p:sp>
        <p:nvSpPr>
          <p:cNvPr id="16" name="菱形 15"/>
          <p:cNvSpPr/>
          <p:nvPr/>
        </p:nvSpPr>
        <p:spPr>
          <a:xfrm>
            <a:off x="4451350" y="5363845"/>
            <a:ext cx="1101090" cy="436880"/>
          </a:xfrm>
          <a:prstGeom prst="diamond">
            <a:avLst/>
          </a:prstGeom>
          <a:solidFill>
            <a:schemeClr val="accent1">
              <a:lumMod val="60000"/>
              <a:lumOff val="4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 b="1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缺角矩形 16"/>
          <p:cNvSpPr/>
          <p:nvPr/>
        </p:nvSpPr>
        <p:spPr>
          <a:xfrm>
            <a:off x="3229610" y="5972175"/>
            <a:ext cx="3554095" cy="396240"/>
          </a:xfrm>
          <a:prstGeom prst="plaque">
            <a:avLst/>
          </a:prstGeom>
          <a:solidFill>
            <a:schemeClr val="accent1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19" name="肘形连接符 18"/>
          <p:cNvCxnSpPr/>
          <p:nvPr/>
        </p:nvCxnSpPr>
        <p:spPr>
          <a:xfrm rot="5400000" flipV="1">
            <a:off x="5014595" y="-581660"/>
            <a:ext cx="3175" cy="2198370"/>
          </a:xfrm>
          <a:prstGeom prst="bentConnector3">
            <a:avLst>
              <a:gd name="adj1" fmla="val 2450000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>
            <a:off x="5027295" y="580390"/>
            <a:ext cx="8255" cy="19875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2834640" y="111125"/>
            <a:ext cx="2160905" cy="39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033010" y="111125"/>
            <a:ext cx="2161540" cy="396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3952875" y="774065"/>
            <a:ext cx="2196000" cy="396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033010" y="1425575"/>
            <a:ext cx="2160905" cy="396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3912235" y="2128520"/>
            <a:ext cx="2196000" cy="396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3912235" y="2780665"/>
            <a:ext cx="2196000" cy="396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3912235" y="3387725"/>
            <a:ext cx="2196000" cy="39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zh-CN" altLang="en-US" sz="1200"/>
          </a:p>
        </p:txBody>
      </p:sp>
      <p:sp>
        <p:nvSpPr>
          <p:cNvPr id="30" name="下箭头 29"/>
          <p:cNvSpPr/>
          <p:nvPr/>
        </p:nvSpPr>
        <p:spPr>
          <a:xfrm>
            <a:off x="4899660" y="1200785"/>
            <a:ext cx="271780" cy="19875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" name="肘形连接符 30"/>
          <p:cNvCxnSpPr/>
          <p:nvPr/>
        </p:nvCxnSpPr>
        <p:spPr>
          <a:xfrm rot="5400000" flipV="1">
            <a:off x="5012690" y="720725"/>
            <a:ext cx="3810" cy="2198370"/>
          </a:xfrm>
          <a:prstGeom prst="bentConnector3">
            <a:avLst>
              <a:gd name="adj1" fmla="val 2933333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5026025" y="1924685"/>
            <a:ext cx="4445" cy="2095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5033010" y="3183255"/>
            <a:ext cx="4445" cy="2095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5" name="下箭头 34"/>
          <p:cNvSpPr/>
          <p:nvPr/>
        </p:nvSpPr>
        <p:spPr>
          <a:xfrm>
            <a:off x="4899660" y="2553335"/>
            <a:ext cx="271780" cy="19875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下箭头 35"/>
          <p:cNvSpPr/>
          <p:nvPr/>
        </p:nvSpPr>
        <p:spPr>
          <a:xfrm>
            <a:off x="4899660" y="3823335"/>
            <a:ext cx="271780" cy="198755"/>
          </a:xfrm>
          <a:prstGeom prst="downArrow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3661410" y="4716780"/>
            <a:ext cx="2667000" cy="39624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38" name="肘形连接符 37"/>
          <p:cNvCxnSpPr/>
          <p:nvPr/>
        </p:nvCxnSpPr>
        <p:spPr>
          <a:xfrm rot="5400000" flipV="1">
            <a:off x="4937125" y="3293110"/>
            <a:ext cx="3810" cy="2198370"/>
          </a:xfrm>
          <a:prstGeom prst="bentConnector3">
            <a:avLst>
              <a:gd name="adj1" fmla="val 2933333"/>
            </a:avLst>
          </a:prstGeom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5026025" y="4498975"/>
            <a:ext cx="4445" cy="2095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37" idx="2"/>
            <a:endCxn id="16" idx="0"/>
          </p:cNvCxnSpPr>
          <p:nvPr/>
        </p:nvCxnSpPr>
        <p:spPr>
          <a:xfrm>
            <a:off x="4994910" y="5113020"/>
            <a:ext cx="6985" cy="250825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>
            <a:stCxn id="16" idx="2"/>
            <a:endCxn id="17" idx="0"/>
          </p:cNvCxnSpPr>
          <p:nvPr/>
        </p:nvCxnSpPr>
        <p:spPr>
          <a:xfrm>
            <a:off x="5001895" y="5800725"/>
            <a:ext cx="5080" cy="171450"/>
          </a:xfrm>
          <a:prstGeom prst="straightConnector1">
            <a:avLst/>
          </a:prstGeom>
          <a:ln>
            <a:solidFill>
              <a:schemeClr val="bg1">
                <a:lumMod val="50000"/>
              </a:schemeClr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文本框 41"/>
          <p:cNvSpPr txBox="1"/>
          <p:nvPr/>
        </p:nvSpPr>
        <p:spPr>
          <a:xfrm>
            <a:off x="5120005" y="57912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6742430" y="181800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5120005" y="317119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本框 44"/>
          <p:cNvSpPr txBox="1"/>
          <p:nvPr/>
        </p:nvSpPr>
        <p:spPr>
          <a:xfrm>
            <a:off x="5120005" y="450405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本框 45"/>
          <p:cNvSpPr txBox="1"/>
          <p:nvPr/>
        </p:nvSpPr>
        <p:spPr>
          <a:xfrm>
            <a:off x="5120005" y="519303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5030470" y="576262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本框 48"/>
          <p:cNvSpPr txBox="1"/>
          <p:nvPr/>
        </p:nvSpPr>
        <p:spPr>
          <a:xfrm>
            <a:off x="7401560" y="4573270"/>
            <a:ext cx="398780" cy="24257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noAutofit/>
          </a:bodyPr>
          <a:lstStyle/>
          <a:p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圆柱形 50"/>
          <p:cNvSpPr/>
          <p:nvPr/>
        </p:nvSpPr>
        <p:spPr>
          <a:xfrm rot="5400000">
            <a:off x="6682740" y="2363470"/>
            <a:ext cx="176530" cy="883285"/>
          </a:xfrm>
          <a:prstGeom prst="can">
            <a:avLst/>
          </a:prstGeom>
          <a:solidFill>
            <a:srgbClr val="FFFF00">
              <a:alpha val="17000"/>
            </a:srgbClr>
          </a:solidFill>
          <a:ln>
            <a:solidFill>
              <a:srgbClr val="FFC000">
                <a:alpha val="5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/>
          </a:p>
        </p:txBody>
      </p:sp>
      <p:sp>
        <p:nvSpPr>
          <p:cNvPr id="53" name="圆柱形 52"/>
          <p:cNvSpPr/>
          <p:nvPr/>
        </p:nvSpPr>
        <p:spPr>
          <a:xfrm rot="5400000">
            <a:off x="6682740" y="2538730"/>
            <a:ext cx="176530" cy="883285"/>
          </a:xfrm>
          <a:prstGeom prst="can">
            <a:avLst/>
          </a:prstGeom>
          <a:solidFill>
            <a:srgbClr val="FFFF00">
              <a:alpha val="17000"/>
            </a:srgbClr>
          </a:solidFill>
          <a:ln>
            <a:solidFill>
              <a:srgbClr val="FFC000">
                <a:alpha val="5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4" name="圆柱形 53"/>
          <p:cNvSpPr/>
          <p:nvPr/>
        </p:nvSpPr>
        <p:spPr>
          <a:xfrm rot="5400000">
            <a:off x="6682740" y="2715260"/>
            <a:ext cx="176530" cy="883285"/>
          </a:xfrm>
          <a:prstGeom prst="can">
            <a:avLst/>
          </a:prstGeom>
          <a:solidFill>
            <a:srgbClr val="FFFF00">
              <a:alpha val="17000"/>
            </a:srgbClr>
          </a:solidFill>
          <a:ln>
            <a:solidFill>
              <a:srgbClr val="FFC000">
                <a:alpha val="58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矩形 54"/>
          <p:cNvSpPr/>
          <p:nvPr/>
        </p:nvSpPr>
        <p:spPr>
          <a:xfrm>
            <a:off x="6292850" y="2670175"/>
            <a:ext cx="979805" cy="60769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7" name="直接箭头连接符 56"/>
          <p:cNvCxnSpPr>
            <a:stCxn id="55" idx="1"/>
            <a:endCxn id="27" idx="3"/>
          </p:cNvCxnSpPr>
          <p:nvPr/>
        </p:nvCxnSpPr>
        <p:spPr>
          <a:xfrm flipH="1">
            <a:off x="6108065" y="2974340"/>
            <a:ext cx="184785" cy="4445"/>
          </a:xfrm>
          <a:prstGeom prst="straightConnector1">
            <a:avLst/>
          </a:prstGeom>
          <a:ln w="0">
            <a:solidFill>
              <a:schemeClr val="tx1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1981835" y="169545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STEP1: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1981835" y="1457325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STEP1: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1981835" y="2846070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STEP1: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981835" y="4104640"/>
            <a:ext cx="699135" cy="280035"/>
          </a:xfrm>
          <a:prstGeom prst="rect">
            <a:avLst/>
          </a:prstGeom>
          <a:solidFill>
            <a:schemeClr val="bg1"/>
          </a:solidFill>
          <a:ln w="0"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STEP1: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62" name="直接箭头连接符 61"/>
          <p:cNvCxnSpPr>
            <a:stCxn id="58" idx="2"/>
            <a:endCxn id="59" idx="0"/>
          </p:cNvCxnSpPr>
          <p:nvPr/>
        </p:nvCxnSpPr>
        <p:spPr>
          <a:xfrm>
            <a:off x="2331720" y="449580"/>
            <a:ext cx="0" cy="1007745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>
            <a:stCxn id="59" idx="2"/>
            <a:endCxn id="60" idx="0"/>
          </p:cNvCxnSpPr>
          <p:nvPr/>
        </p:nvCxnSpPr>
        <p:spPr>
          <a:xfrm>
            <a:off x="2331720" y="1737360"/>
            <a:ext cx="0" cy="1108710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stCxn id="60" idx="2"/>
            <a:endCxn id="61" idx="0"/>
          </p:cNvCxnSpPr>
          <p:nvPr/>
        </p:nvCxnSpPr>
        <p:spPr>
          <a:xfrm>
            <a:off x="2331720" y="3126105"/>
            <a:ext cx="0" cy="978535"/>
          </a:xfrm>
          <a:prstGeom prst="straightConnector1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5" name="肘形连接符 64"/>
          <p:cNvCxnSpPr>
            <a:stCxn id="61" idx="2"/>
            <a:endCxn id="17" idx="1"/>
          </p:cNvCxnSpPr>
          <p:nvPr/>
        </p:nvCxnSpPr>
        <p:spPr>
          <a:xfrm rot="5400000" flipV="1">
            <a:off x="1887855" y="4828540"/>
            <a:ext cx="1785620" cy="897890"/>
          </a:xfrm>
          <a:prstGeom prst="bentConnector2">
            <a:avLst/>
          </a:prstGeom>
          <a:ln w="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/>
        </p:nvSpPr>
        <p:spPr>
          <a:xfrm>
            <a:off x="6543040" y="266509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553200" y="285686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558280" y="303022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55775" y="581025"/>
            <a:ext cx="5269865" cy="548830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2682240" y="3519170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l="54435" t="9192" r="2259" b="66640"/>
          <a:stretch>
            <a:fillRect/>
          </a:stretch>
        </p:blipFill>
        <p:spPr>
          <a:xfrm>
            <a:off x="4681220" y="1318260"/>
            <a:ext cx="1385570" cy="80518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2559685" y="981710"/>
            <a:ext cx="1645920" cy="1185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2860040" y="128016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4572000" y="981710"/>
            <a:ext cx="1617345" cy="118554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2559685" y="2427605"/>
            <a:ext cx="3629660" cy="162941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2794000" y="1010285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           Text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860040" y="128016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3475990" y="128016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665730" y="178054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69285" y="178054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3667760" y="1780540"/>
            <a:ext cx="454660" cy="3429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788535" y="996315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           Text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682240" y="3063240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2614295" y="2787015"/>
            <a:ext cx="1685290" cy="121666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文本框 23"/>
          <p:cNvSpPr txBox="1"/>
          <p:nvPr/>
        </p:nvSpPr>
        <p:spPr>
          <a:xfrm>
            <a:off x="3759835" y="2448560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           Text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燕尾形箭头 24"/>
          <p:cNvSpPr/>
          <p:nvPr/>
        </p:nvSpPr>
        <p:spPr>
          <a:xfrm rot="5400000">
            <a:off x="3199765" y="2186940"/>
            <a:ext cx="247650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燕尾形箭头 25"/>
          <p:cNvSpPr/>
          <p:nvPr/>
        </p:nvSpPr>
        <p:spPr>
          <a:xfrm rot="5400000">
            <a:off x="5279390" y="2196465"/>
            <a:ext cx="247650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 26"/>
          <p:cNvSpPr/>
          <p:nvPr/>
        </p:nvSpPr>
        <p:spPr>
          <a:xfrm>
            <a:off x="2682240" y="3300095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/>
          <p:cNvSpPr/>
          <p:nvPr/>
        </p:nvSpPr>
        <p:spPr>
          <a:xfrm>
            <a:off x="2682240" y="3738245"/>
            <a:ext cx="1523365" cy="1720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3217545" y="2823210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4618355" y="2787015"/>
            <a:ext cx="1448435" cy="1216660"/>
          </a:xfrm>
          <a:prstGeom prst="rect">
            <a:avLst/>
          </a:prstGeom>
          <a:noFill/>
          <a:ln w="3175">
            <a:solidFill>
              <a:schemeClr val="tx1"/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燕尾形箭头 31"/>
          <p:cNvSpPr/>
          <p:nvPr/>
        </p:nvSpPr>
        <p:spPr>
          <a:xfrm>
            <a:off x="4366895" y="3294380"/>
            <a:ext cx="247650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3263265" y="303339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3263265" y="327596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3251200" y="348932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251200" y="370268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210175" y="2858135"/>
            <a:ext cx="398780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4681855" y="3125470"/>
            <a:ext cx="619760" cy="3352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368290" y="3126105"/>
            <a:ext cx="598170" cy="3378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989830" y="3519170"/>
            <a:ext cx="694055" cy="3911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燕尾形箭头 40"/>
          <p:cNvSpPr/>
          <p:nvPr/>
        </p:nvSpPr>
        <p:spPr>
          <a:xfrm rot="5400000">
            <a:off x="4297680" y="4052570"/>
            <a:ext cx="206375" cy="201930"/>
          </a:xfrm>
          <a:prstGeom prst="notched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矩形 41"/>
          <p:cNvSpPr/>
          <p:nvPr/>
        </p:nvSpPr>
        <p:spPr>
          <a:xfrm>
            <a:off x="2559685" y="4263390"/>
            <a:ext cx="3629660" cy="59118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/>
        </p:nvSpPr>
        <p:spPr>
          <a:xfrm>
            <a:off x="3785870" y="4292600"/>
            <a:ext cx="1229995" cy="1352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Text            Text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2614295" y="4601210"/>
            <a:ext cx="1047750" cy="209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3844290" y="4601210"/>
            <a:ext cx="1047750" cy="209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矩形 50"/>
          <p:cNvSpPr/>
          <p:nvPr/>
        </p:nvSpPr>
        <p:spPr>
          <a:xfrm>
            <a:off x="5074285" y="4601210"/>
            <a:ext cx="1047750" cy="20955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</a:t>
            </a:r>
            <a:endParaRPr lang="en-US" altLang="zh-CN" sz="10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5" name="图片 54" descr="会话框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2145" y="525145"/>
            <a:ext cx="432435" cy="43243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微信图片_2024050914204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0250" y="0"/>
            <a:ext cx="51435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矩形 2"/>
              <p:cNvSpPr/>
              <p:nvPr/>
            </p:nvSpPr>
            <p:spPr>
              <a:xfrm>
                <a:off x="2899727" y="1007000"/>
                <a:ext cx="893445" cy="193675"/>
              </a:xfrm>
              <a:prstGeom prst="rect">
                <a:avLst/>
              </a:prstGeom>
              <a:solidFill>
                <a:srgbClr val="FCDB9D"/>
              </a:solid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𝑘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" name="矩形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9727" y="1007000"/>
                <a:ext cx="893445" cy="193675"/>
              </a:xfrm>
              <a:prstGeom prst="rect">
                <a:avLst/>
              </a:prstGeom>
              <a:blipFill rotWithShape="1">
                <a:blip r:embed="rId1"/>
                <a:stretch>
                  <a:fillRect l="-604" t="-2566" r="-462" b="-2352"/>
                </a:stretch>
              </a:blip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矩形 3"/>
              <p:cNvSpPr/>
              <p:nvPr/>
            </p:nvSpPr>
            <p:spPr>
              <a:xfrm>
                <a:off x="3856989" y="1010285"/>
                <a:ext cx="888365" cy="193675"/>
              </a:xfrm>
              <a:prstGeom prst="rect">
                <a:avLst/>
              </a:prstGeom>
              <a:solidFill>
                <a:srgbClr val="B3E3D3"/>
              </a:solid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宋体" panose="02010600030101010101" pitchFamily="2" charset="-122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𝑝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,</m:t>
                          </m:r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宋体" panose="02010600030101010101" pitchFamily="2" charset="-122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56989" y="1010285"/>
                <a:ext cx="888365" cy="193675"/>
              </a:xfrm>
              <a:prstGeom prst="rect">
                <a:avLst/>
              </a:prstGeom>
              <a:blipFill rotWithShape="1">
                <a:blip r:embed="rId2"/>
                <a:stretch>
                  <a:fillRect l="-572" t="-2623" r="-500" b="-2295"/>
                </a:stretch>
              </a:blip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矩形 4"/>
              <p:cNvSpPr/>
              <p:nvPr/>
            </p:nvSpPr>
            <p:spPr>
              <a:xfrm>
                <a:off x="4859972" y="992188"/>
                <a:ext cx="904875" cy="193675"/>
              </a:xfrm>
              <a:prstGeom prst="rect">
                <a:avLst/>
              </a:prstGeom>
              <a:solidFill>
                <a:srgbClr val="FBA6A7"/>
              </a:solid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CN" sz="1200" i="1">
                              <a:solidFill>
                                <a:schemeClr val="tx1"/>
                              </a:solidFill>
                              <a:effectLst/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Times New Roman" panose="02020603050405020304" pitchFamily="18" charset="0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9972" y="992188"/>
                <a:ext cx="904875" cy="193675"/>
              </a:xfrm>
              <a:prstGeom prst="rect">
                <a:avLst/>
              </a:prstGeom>
              <a:blipFill rotWithShape="1">
                <a:blip r:embed="rId3"/>
                <a:stretch>
                  <a:fillRect l="-596" t="-2459" r="-456" b="-2459"/>
                </a:stretch>
              </a:blip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矩形 6"/>
          <p:cNvSpPr/>
          <p:nvPr/>
        </p:nvSpPr>
        <p:spPr>
          <a:xfrm flipV="1">
            <a:off x="2572312" y="344742"/>
            <a:ext cx="3432175" cy="873981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 flipV="1">
            <a:off x="2337435" y="1849755"/>
            <a:ext cx="3972560" cy="1181100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2521585" y="2117090"/>
            <a:ext cx="893445" cy="193675"/>
          </a:xfrm>
          <a:prstGeom prst="rect">
            <a:avLst/>
          </a:prstGeom>
          <a:solidFill>
            <a:srgbClr val="FFE6BD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521585" y="2440305"/>
            <a:ext cx="893445" cy="193675"/>
          </a:xfrm>
          <a:prstGeom prst="rect">
            <a:avLst/>
          </a:prstGeom>
          <a:solidFill>
            <a:srgbClr val="FFE6BD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801110" y="2056130"/>
            <a:ext cx="465455" cy="703580"/>
          </a:xfrm>
          <a:prstGeom prst="rect">
            <a:avLst/>
          </a:prstGeom>
          <a:noFill/>
          <a:ln w="15875" cmpd="sng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418965" y="2056130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418965" y="2249805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18965" y="2613025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18965" y="2431415"/>
            <a:ext cx="726440" cy="142240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684270" y="1936115"/>
            <a:ext cx="1576705" cy="902335"/>
          </a:xfrm>
          <a:prstGeom prst="roundRect">
            <a:avLst/>
          </a:prstGeom>
          <a:noFill/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427605" y="2047875"/>
            <a:ext cx="1077595" cy="677545"/>
          </a:xfrm>
          <a:prstGeom prst="roundRect">
            <a:avLst>
              <a:gd name="adj" fmla="val 14974"/>
            </a:avLst>
          </a:prstGeom>
          <a:noFill/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5440045" y="2205355"/>
            <a:ext cx="799465" cy="373380"/>
          </a:xfrm>
          <a:prstGeom prst="roundRect">
            <a:avLst>
              <a:gd name="adj" fmla="val 14974"/>
            </a:avLst>
          </a:prstGeom>
          <a:solidFill>
            <a:srgbClr val="FBC4C9"/>
          </a:solidFill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966402" y="2910840"/>
            <a:ext cx="2699385" cy="25209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         </a:t>
            </a:r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 flipV="1">
            <a:off x="2430635" y="3495040"/>
            <a:ext cx="3972560" cy="1031875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2101700" y="5889638"/>
            <a:ext cx="5237777" cy="623620"/>
          </a:xfrm>
          <a:prstGeom prst="roundRect">
            <a:avLst/>
          </a:prstGeom>
          <a:noFill/>
          <a:ln w="6350" cmpd="sng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157853" y="3685492"/>
            <a:ext cx="2286635" cy="15367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659380" y="3975100"/>
            <a:ext cx="535305" cy="165735"/>
          </a:xfrm>
          <a:prstGeom prst="rect">
            <a:avLst/>
          </a:prstGeom>
          <a:solidFill>
            <a:srgbClr val="FBA6A7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033520" y="3975100"/>
            <a:ext cx="535305" cy="165735"/>
          </a:xfrm>
          <a:prstGeom prst="rect">
            <a:avLst/>
          </a:prstGeom>
          <a:solidFill>
            <a:srgbClr val="51BF9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346450" y="3975100"/>
            <a:ext cx="535305" cy="165735"/>
          </a:xfrm>
          <a:prstGeom prst="rect">
            <a:avLst/>
          </a:prstGeom>
          <a:solidFill>
            <a:srgbClr val="FCDB9D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720590" y="3975100"/>
            <a:ext cx="535305" cy="165735"/>
          </a:xfrm>
          <a:prstGeom prst="rect">
            <a:avLst/>
          </a:prstGeom>
          <a:solidFill>
            <a:srgbClr val="94CCED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407660" y="3975100"/>
            <a:ext cx="535305" cy="165735"/>
          </a:xfrm>
          <a:prstGeom prst="rect">
            <a:avLst/>
          </a:prstGeom>
          <a:solidFill>
            <a:srgbClr val="558FE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955290" y="4213225"/>
            <a:ext cx="2699385" cy="25209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                   </a:t>
            </a:r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74022" y="155671"/>
            <a:ext cx="2699385" cy="34607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问题概念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" name="下箭头 28"/>
          <p:cNvSpPr/>
          <p:nvPr/>
        </p:nvSpPr>
        <p:spPr>
          <a:xfrm>
            <a:off x="3289934" y="1229200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下箭头 29"/>
          <p:cNvSpPr/>
          <p:nvPr/>
        </p:nvSpPr>
        <p:spPr>
          <a:xfrm>
            <a:off x="4231885" y="1260158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5260808" y="1206158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505200" y="2386965"/>
            <a:ext cx="179070" cy="63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4272915" y="2123440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6" idx="3"/>
            <a:endCxn id="18" idx="1"/>
          </p:cNvCxnSpPr>
          <p:nvPr/>
        </p:nvCxnSpPr>
        <p:spPr>
          <a:xfrm>
            <a:off x="5260975" y="2387600"/>
            <a:ext cx="179070" cy="444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4272915" y="2318385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>
            <a:off x="4272915" y="2500630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4272915" y="2676525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下箭头 41"/>
          <p:cNvSpPr/>
          <p:nvPr/>
        </p:nvSpPr>
        <p:spPr>
          <a:xfrm>
            <a:off x="4210050" y="545883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4250055" y="3546475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/>
          <p:nvPr/>
        </p:nvCxnSpPr>
        <p:spPr>
          <a:xfrm flipV="1">
            <a:off x="4301490" y="3806825"/>
            <a:ext cx="635" cy="16827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肘形连接符 44"/>
          <p:cNvCxnSpPr/>
          <p:nvPr/>
        </p:nvCxnSpPr>
        <p:spPr>
          <a:xfrm rot="16200000" flipH="1">
            <a:off x="4301490" y="2600960"/>
            <a:ext cx="3175" cy="2748280"/>
          </a:xfrm>
          <a:prstGeom prst="bentConnector3">
            <a:avLst>
              <a:gd name="adj1" fmla="val -3470000"/>
            </a:avLst>
          </a:prstGeom>
          <a:ln w="0"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V="1">
            <a:off x="3651250" y="3865245"/>
            <a:ext cx="0" cy="11874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4989830" y="3868420"/>
            <a:ext cx="0" cy="11874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140118" y="660083"/>
            <a:ext cx="2265593" cy="2457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下箭头 41"/>
          <p:cNvSpPr/>
          <p:nvPr/>
        </p:nvSpPr>
        <p:spPr>
          <a:xfrm>
            <a:off x="4210892" y="923875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3190400" y="1385175"/>
            <a:ext cx="2196000" cy="396000"/>
          </a:xfrm>
          <a:prstGeom prst="rect">
            <a:avLst/>
          </a:prstGeom>
          <a:solidFill>
            <a:srgbClr val="BADDF3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NSGA-Ⅱ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算法流程</a:t>
            </a:r>
            <a:endParaRPr lang="zh-CN" altLang="en-US" sz="1200" dirty="0"/>
          </a:p>
        </p:txBody>
      </p:sp>
      <p:sp>
        <p:nvSpPr>
          <p:cNvPr id="40" name="下箭头 29"/>
          <p:cNvSpPr/>
          <p:nvPr/>
        </p:nvSpPr>
        <p:spPr>
          <a:xfrm>
            <a:off x="4266565" y="1770116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 47"/>
          <p:cNvSpPr/>
          <p:nvPr/>
        </p:nvSpPr>
        <p:spPr>
          <a:xfrm>
            <a:off x="3303586" y="3200877"/>
            <a:ext cx="2025015" cy="298258"/>
          </a:xfrm>
          <a:prstGeom prst="rect">
            <a:avLst/>
          </a:prstGeom>
          <a:solidFill>
            <a:srgbClr val="BADDF3"/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文本框 51"/>
              <p:cNvSpPr txBox="1"/>
              <p:nvPr/>
            </p:nvSpPr>
            <p:spPr>
              <a:xfrm>
                <a:off x="2163296" y="5934125"/>
                <a:ext cx="5237778" cy="10152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sz="1200" dirty="0"/>
                  <a:t>最小化总成本：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smtClean="0"/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1200" i="1"/>
                        </m:ctrlPr>
                      </m:naryPr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zh-CN" altLang="zh-CN" sz="1200" i="1"/>
                            </m:ctrlPr>
                          </m:sSubPr>
                          <m:e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200" i="1">
                                <a:latin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p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nary>
                      <m:naryPr>
                        <m:chr m:val="∑"/>
                        <m:ctrlPr>
                          <a:rPr lang="zh-CN" altLang="zh-CN" sz="1200" i="1"/>
                        </m:ctrlPr>
                      </m:naryPr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sSubPr>
                        <m:ctrlPr>
                          <a:rPr lang="zh-CN" altLang="zh-CN" sz="1200" i="1"/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𝐶𝑜𝑠𝑡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𝑟𝑜𝑐𝑘𝑒𝑡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⋅</m:t>
                    </m:r>
                    <m:r>
                      <a:rPr lang="en-US" altLang="zh-CN" sz="1200" i="1">
                        <a:latin typeface="Cambria Math" panose="02040503050406030204" pitchFamily="18" charset="0"/>
                      </a:rPr>
                      <m:t/>
                    </m:r>
                    <m:sSub>
                      <m:sSubPr>
                        <m:ctrlPr>
                          <a:rPr lang="en-US" altLang="zh-CN" sz="12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b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)+</m:t>
                    </m:r>
                    <m:nary>
                      <m:naryPr>
                        <m:chr m:val="∑"/>
                        <m:ctrlPr>
                          <a:rPr lang="zh-CN" altLang="zh-CN" sz="1200" i="1"/>
                        </m:ctrlPr>
                      </m:naryPr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(</m:t>
                        </m:r>
                      </m:e>
                    </m:nary>
                    <m:sSub>
                      <m:sSubPr>
                        <m:ctrlPr>
                          <a:rPr lang="zh-CN" altLang="zh-CN" sz="1200" i="1"/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𝐶𝑜𝑠𝑡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𝑙𝑖𝑓𝑡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sz="1200" i="1"/>
                        </m:ctrlPr>
                      </m:sSubPr>
                      <m:e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12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zh-CN" sz="1200" i="1">
                        <a:latin typeface="Cambria Math" panose="02040503050406030204" pitchFamily="18" charset="0"/>
                      </a:rPr>
                      <m:t>))</m:t>
                    </m:r>
                  </m:oMath>
                </a14:m>
                <a:endParaRPr lang="en-US" altLang="zh-CN" sz="1200" dirty="0"/>
              </a:p>
              <a:p>
                <a:r>
                  <a:rPr lang="zh-CN" altLang="en-US" sz="1200" dirty="0"/>
                  <a:t>最小化总工期：</a:t>
                </a:r>
                <a:r>
                  <a:rPr lang="zh-CN" altLang="zh-CN" sz="1200" kern="100" dirty="0">
                    <a:effectLst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𝑍</m:t>
                        </m:r>
                      </m:e>
                      <m:sub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𝑇</m:t>
                        </m:r>
                      </m:sub>
                    </m:sSub>
                    <m:r>
                      <a:rPr lang="en-US" altLang="zh-CN" sz="12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sub>
                      <m:sup>
                        <m:sSub>
                          <m:sSubPr>
                            <m:ctrlPr>
                              <a:rPr lang="zh-CN" altLang="zh-CN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zh-CN" sz="1200" i="1" kern="100">
                                <a:effectLst/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Cambria Math" panose="02040503050406030204" pitchFamily="18" charset="0"/>
                              </a:rPr>
                              <m:t>𝑚𝑎𝑥</m:t>
                            </m:r>
                          </m:sub>
                        </m:sSub>
                      </m:sup>
                      <m:e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𝑡</m:t>
                        </m:r>
                      </m:e>
                    </m:nary>
                    <m:r>
                      <a:rPr lang="en-US" altLang="zh-CN" sz="1200" i="1" kern="100">
                        <a:effectLst/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⋅</m:t>
                    </m:r>
                    <m:sSub>
                      <m:sSubPr>
                        <m:ctrlPr>
                          <a:rPr lang="zh-CN" altLang="zh-CN" sz="1200" i="1" kern="100">
                            <a:effectLst/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zh-CN" sz="1200" i="1" kern="100">
                            <a:effectLst/>
                            <a:latin typeface="Cambria Math" panose="02040503050406030204" pitchFamily="18" charset="0"/>
                            <a:ea typeface="宋体" panose="02010600030101010101" pitchFamily="2" charset="-122"/>
                            <a:cs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zh-CN" altLang="zh-CN" sz="1200" kern="100" dirty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zh-CN" sz="1200" dirty="0"/>
              </a:p>
              <a:p>
                <a:endParaRPr lang="zh-CN" altLang="en-US" dirty="0"/>
              </a:p>
            </p:txBody>
          </p:sp>
        </mc:Choice>
        <mc:Fallback>
          <p:sp>
            <p:nvSpPr>
              <p:cNvPr id="52" name="文本框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296" y="5934125"/>
                <a:ext cx="5237778" cy="1015214"/>
              </a:xfrm>
              <a:prstGeom prst="rect">
                <a:avLst/>
              </a:prstGeom>
              <a:blipFill rotWithShape="1">
                <a:blip r:embed="rId4"/>
                <a:stretch>
                  <a:fillRect l="-9" t="-5" r="3" b="-2040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圆角矩形 20"/>
          <p:cNvSpPr/>
          <p:nvPr/>
        </p:nvSpPr>
        <p:spPr>
          <a:xfrm>
            <a:off x="2126465" y="4593548"/>
            <a:ext cx="5237777" cy="1281334"/>
          </a:xfrm>
          <a:prstGeom prst="roundRect">
            <a:avLst/>
          </a:prstGeom>
          <a:noFill/>
          <a:ln w="6350" cmpd="sng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pitchFamily="34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" name="文本框 54"/>
              <p:cNvSpPr txBox="1"/>
              <p:nvPr/>
            </p:nvSpPr>
            <p:spPr>
              <a:xfrm>
                <a:off x="2807637" y="4620895"/>
                <a:ext cx="3522375" cy="149008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indent="127000" algn="ctr">
                  <a:buNone/>
                </a:pPr>
                <a:r>
                  <a:rPr lang="zh-CN" altLang="en-US" sz="1200" dirty="0"/>
                  <a:t>约束条件：</a:t>
                </a:r>
                <a:endParaRPr lang="en-US" altLang="zh-CN" sz="1200" dirty="0"/>
              </a:p>
              <a:p>
                <a:pPr indent="1270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sSub>
                            <m:sSubPr>
                              <m:ctrlPr>
                                <a:rPr lang="zh-CN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</m:sup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nary>
                        <m:naryPr>
                          <m:chr m:val="∑"/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10</m:t>
                          </m:r>
                        </m:sup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(</m:t>
                          </m:r>
                        </m:e>
                      </m:nary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𝐶𝑎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𝑟𝑜𝑐𝑘𝑒𝑡</m:t>
                          </m:r>
                        </m:sub>
                      </m:sSub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⋅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)+</m:t>
                      </m:r>
                      <m:nary>
                        <m:naryPr>
                          <m:chr m:val="∑"/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3</m:t>
                          </m:r>
                        </m:sup>
                        <m:e>
                          <m:sSub>
                            <m:sSubPr>
                              <m:ctrlPr>
                                <a:rPr lang="zh-CN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sz="1200" i="1" kern="1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</m:e>
                      </m:nary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)≥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宋体" panose="02010600030101010101" pitchFamily="2" charset="-122"/>
                              <a:cs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m:oMathPara>
                </a14:m>
                <a:endParaRPr lang="zh-CN" altLang="zh-CN" sz="1200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127000" algn="just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𝑝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𝑙𝑖𝑓𝑡</m:t>
                          </m:r>
                        </m:sub>
                      </m:sSub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,∀</m:t>
                      </m:r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𝑝</m:t>
                      </m:r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,∀</m:t>
                      </m:r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𝑡</m:t>
                      </m:r>
                    </m:oMath>
                  </m:oMathPara>
                </a14:m>
                <a:endParaRPr lang="zh-CN" altLang="zh-CN" sz="1200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pPr indent="127000" algn="just">
                  <a:lnSpc>
                    <a:spcPct val="15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0</m:t>
                      </m:r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sz="1200" i="1" kern="10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≤</m:t>
                      </m:r>
                      <m:sSub>
                        <m:sSubPr>
                          <m:ctrlPr>
                            <a:rPr lang="zh-CN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altLang="zh-CN" sz="1200" i="1" kern="1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zh-CN" altLang="zh-CN" sz="1200" kern="100" dirty="0">
                  <a:latin typeface="Times New Roman" panose="02020603050405020304" pitchFamily="18" charset="0"/>
                  <a:ea typeface="宋体" panose="02010600030101010101" pitchFamily="2" charset="-122"/>
                  <a:cs typeface="Times New Roman" panose="02020603050405020304" pitchFamily="18" charset="0"/>
                </a:endParaRPr>
              </a:p>
              <a:p>
                <a:endParaRPr lang="zh-CN" altLang="en-US" sz="1200" dirty="0"/>
              </a:p>
            </p:txBody>
          </p:sp>
        </mc:Choice>
        <mc:Fallback>
          <p:sp>
            <p:nvSpPr>
              <p:cNvPr id="55" name="文本框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7637" y="4620895"/>
                <a:ext cx="3522375" cy="1490088"/>
              </a:xfrm>
              <a:prstGeom prst="rect">
                <a:avLst/>
              </a:prstGeom>
              <a:blipFill rotWithShape="1">
                <a:blip r:embed="rId5"/>
                <a:stretch>
                  <a:fillRect l="-9" r="9" b="2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2899727" y="1007000"/>
            <a:ext cx="893445" cy="193675"/>
          </a:xfrm>
          <a:prstGeom prst="rect">
            <a:avLst/>
          </a:prstGeom>
          <a:solidFill>
            <a:srgbClr val="FCDB9D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3856989" y="1010285"/>
            <a:ext cx="888365" cy="193675"/>
          </a:xfrm>
          <a:prstGeom prst="rect">
            <a:avLst/>
          </a:prstGeom>
          <a:solidFill>
            <a:srgbClr val="B3E3D3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859972" y="992188"/>
            <a:ext cx="904875" cy="193675"/>
          </a:xfrm>
          <a:prstGeom prst="rect">
            <a:avLst/>
          </a:prstGeom>
          <a:solidFill>
            <a:srgbClr val="FBA6A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 flipV="1">
            <a:off x="2607626" y="345109"/>
            <a:ext cx="3432175" cy="873981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矩形 7"/>
          <p:cNvSpPr/>
          <p:nvPr/>
        </p:nvSpPr>
        <p:spPr>
          <a:xfrm flipV="1">
            <a:off x="2344061" y="1402080"/>
            <a:ext cx="5431578" cy="2340961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矩形 8"/>
              <p:cNvSpPr/>
              <p:nvPr/>
            </p:nvSpPr>
            <p:spPr>
              <a:xfrm>
                <a:off x="2521585" y="2117090"/>
                <a:ext cx="893445" cy="193675"/>
              </a:xfrm>
              <a:prstGeom prst="rect">
                <a:avLst/>
              </a:prstGeom>
              <a:solidFill>
                <a:srgbClr val="FFE6BD"/>
              </a:solid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smtClean="0">
                              <a:solidFill>
                                <a:schemeClr val="tx1"/>
                              </a:solidFill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sz="1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zh-CN" altLang="en-US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21585" y="2117090"/>
                <a:ext cx="893445" cy="193675"/>
              </a:xfrm>
              <a:prstGeom prst="rect">
                <a:avLst/>
              </a:prstGeom>
              <a:blipFill rotWithShape="1">
                <a:blip r:embed="rId1"/>
                <a:stretch>
                  <a:fillRect l="-569" t="-7213" r="-498" b="-7869"/>
                </a:stretch>
              </a:blip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矩形 9"/>
              <p:cNvSpPr/>
              <p:nvPr/>
            </p:nvSpPr>
            <p:spPr>
              <a:xfrm>
                <a:off x="2517942" y="2466657"/>
                <a:ext cx="893445" cy="193675"/>
              </a:xfrm>
              <a:prstGeom prst="rect">
                <a:avLst/>
              </a:prstGeom>
              <a:solidFill>
                <a:srgbClr val="FFE6BD"/>
              </a:solid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1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zh-CN" sz="120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a:rPr lang="en-US" altLang="zh-CN" sz="1200" b="0" i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en-US" altLang="zh-CN" sz="1200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10" name="矩形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17942" y="2466657"/>
                <a:ext cx="893445" cy="193675"/>
              </a:xfrm>
              <a:prstGeom prst="rect">
                <a:avLst/>
              </a:prstGeom>
              <a:blipFill rotWithShape="1">
                <a:blip r:embed="rId2"/>
                <a:stretch>
                  <a:fillRect l="-587" t="-2787" r="-479" b="-2131"/>
                </a:stretch>
              </a:blipFill>
              <a:ln w="0">
                <a:solidFill>
                  <a:schemeClr val="tx1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矩形 10"/>
          <p:cNvSpPr/>
          <p:nvPr/>
        </p:nvSpPr>
        <p:spPr>
          <a:xfrm>
            <a:off x="3764380" y="1734283"/>
            <a:ext cx="465455" cy="1553005"/>
          </a:xfrm>
          <a:prstGeom prst="rect">
            <a:avLst/>
          </a:prstGeom>
          <a:noFill/>
          <a:ln w="15875" cmpd="sng">
            <a:solidFill>
              <a:schemeClr val="tx1">
                <a:lumMod val="75000"/>
                <a:lumOff val="25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代码层参数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383404" y="1752698"/>
            <a:ext cx="1022307" cy="252023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POP_SIZE=200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383403" y="2128547"/>
            <a:ext cx="1856107" cy="198094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>
              <a:defRPr/>
            </a:pPr>
            <a:r>
              <a:rPr lang="en-US" altLang="zh-CN" sz="10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MAX_GENERATIONS=1000 </a:t>
            </a:r>
            <a:endParaRPr lang="en-US" altLang="zh-CN" sz="10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09031" y="3059501"/>
            <a:ext cx="1804850" cy="220959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+mn-ea"/>
              </a:rPr>
              <a:t>PENALTY_WEIGHT=1000</a:t>
            </a:r>
            <a:endParaRPr kumimoji="0" lang="en-US" altLang="zh-CN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405237" y="2400009"/>
            <a:ext cx="2205535" cy="566171"/>
          </a:xfrm>
          <a:prstGeom prst="rect">
            <a:avLst/>
          </a:prstGeom>
          <a:solidFill>
            <a:srgbClr val="DEEFE7"/>
          </a:solidFill>
          <a:ln w="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WEIGHT_RANGE=np.linspace(0,1,11)</a:t>
            </a:r>
            <a:endParaRPr lang="en-US" altLang="zh-CN" sz="1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3635574" y="1511801"/>
            <a:ext cx="3050148" cy="2024326"/>
          </a:xfrm>
          <a:prstGeom prst="roundRect">
            <a:avLst/>
          </a:prstGeom>
          <a:noFill/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2404410" y="2043429"/>
            <a:ext cx="1077595" cy="677545"/>
          </a:xfrm>
          <a:prstGeom prst="roundRect">
            <a:avLst>
              <a:gd name="adj" fmla="val 14974"/>
            </a:avLst>
          </a:prstGeom>
          <a:noFill/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741146" y="2269573"/>
            <a:ext cx="799465" cy="373380"/>
          </a:xfrm>
          <a:prstGeom prst="roundRect">
            <a:avLst>
              <a:gd name="adj" fmla="val 14974"/>
            </a:avLst>
          </a:prstGeom>
          <a:solidFill>
            <a:srgbClr val="FBC4C9"/>
          </a:solidFill>
          <a:ln w="9525">
            <a:solidFill>
              <a:srgbClr val="0070C0">
                <a:alpha val="7200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>
                <a:solidFill>
                  <a:schemeClr val="tx1"/>
                </a:solidFill>
              </a:rPr>
              <a:t>Z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4158311" y="4434422"/>
            <a:ext cx="2699385" cy="25209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         </a:t>
            </a:r>
            <a:r>
              <a:rPr lang="en-US" altLang="zh-CN" sz="1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 flipV="1">
            <a:off x="2492618" y="4058343"/>
            <a:ext cx="3972560" cy="1031875"/>
          </a:xfrm>
          <a:prstGeom prst="rect">
            <a:avLst/>
          </a:prstGeom>
          <a:noFill/>
          <a:ln w="12700">
            <a:solidFill>
              <a:schemeClr val="accent1">
                <a:lumMod val="60000"/>
                <a:lumOff val="4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1643128" y="5106223"/>
            <a:ext cx="4817307" cy="1596106"/>
          </a:xfrm>
          <a:prstGeom prst="roundRect">
            <a:avLst/>
          </a:prstGeom>
          <a:noFill/>
          <a:ln w="6350" cmpd="sng">
            <a:solidFill>
              <a:schemeClr val="tx1">
                <a:lumMod val="50000"/>
                <a:lumOff val="50000"/>
              </a:schemeClr>
            </a:solidFill>
            <a:prstDash val="dash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altLang="zh-CN" sz="1200" b="1" dirty="0" err="1">
              <a:solidFill>
                <a:prstClr val="black"/>
              </a:solidFill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3313673" y="4428548"/>
            <a:ext cx="2286635" cy="153670"/>
          </a:xfrm>
          <a:prstGeom prst="rect">
            <a:avLst/>
          </a:prstGeom>
          <a:noFill/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200">
              <a:solidFill>
                <a:schemeClr val="tx1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814563" y="4750493"/>
            <a:ext cx="535305" cy="165735"/>
          </a:xfrm>
          <a:prstGeom prst="rect">
            <a:avLst/>
          </a:prstGeom>
          <a:solidFill>
            <a:srgbClr val="FBA6A7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4188703" y="4750493"/>
            <a:ext cx="535305" cy="165735"/>
          </a:xfrm>
          <a:prstGeom prst="rect">
            <a:avLst/>
          </a:prstGeom>
          <a:solidFill>
            <a:srgbClr val="51BF9F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3501633" y="4750493"/>
            <a:ext cx="535305" cy="165735"/>
          </a:xfrm>
          <a:prstGeom prst="rect">
            <a:avLst/>
          </a:prstGeom>
          <a:solidFill>
            <a:srgbClr val="FCDB9D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875773" y="4750493"/>
            <a:ext cx="535305" cy="165735"/>
          </a:xfrm>
          <a:prstGeom prst="rect">
            <a:avLst/>
          </a:prstGeom>
          <a:solidFill>
            <a:srgbClr val="94CCED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562843" y="4750493"/>
            <a:ext cx="535305" cy="165735"/>
          </a:xfrm>
          <a:prstGeom prst="rect">
            <a:avLst/>
          </a:prstGeom>
          <a:solidFill>
            <a:srgbClr val="558FE1"/>
          </a:solidFill>
          <a:ln w="952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110473" y="4988618"/>
            <a:ext cx="2699385" cy="25209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12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                   Text</a:t>
            </a:r>
            <a:endParaRPr lang="zh-CN" altLang="en-US" sz="1200">
              <a:solidFill>
                <a:schemeClr val="tx1"/>
              </a:solidFill>
              <a:sym typeface="+mn-ea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974022" y="155671"/>
            <a:ext cx="2699385" cy="346075"/>
          </a:xfrm>
          <a:prstGeom prst="rect">
            <a:avLst/>
          </a:prstGeom>
          <a:solidFill>
            <a:srgbClr val="BADDF3"/>
          </a:solidFill>
          <a:ln w="0"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问题概念</a:t>
            </a:r>
            <a:endParaRPr lang="en-US" altLang="zh-CN" sz="1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9" name="下箭头 28"/>
          <p:cNvSpPr/>
          <p:nvPr/>
        </p:nvSpPr>
        <p:spPr>
          <a:xfrm>
            <a:off x="3289934" y="1229200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0" name="下箭头 29"/>
          <p:cNvSpPr/>
          <p:nvPr/>
        </p:nvSpPr>
        <p:spPr>
          <a:xfrm>
            <a:off x="4231885" y="1260158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下箭头 30"/>
          <p:cNvSpPr/>
          <p:nvPr/>
        </p:nvSpPr>
        <p:spPr>
          <a:xfrm>
            <a:off x="5260808" y="1206158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2" name="直接箭头连接符 31"/>
          <p:cNvCxnSpPr/>
          <p:nvPr/>
        </p:nvCxnSpPr>
        <p:spPr>
          <a:xfrm>
            <a:off x="3454296" y="2386964"/>
            <a:ext cx="179070" cy="635"/>
          </a:xfrm>
          <a:prstGeom prst="straightConnector1">
            <a:avLst/>
          </a:prstGeom>
          <a:ln w="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12" idx="1"/>
          </p:cNvCxnSpPr>
          <p:nvPr/>
        </p:nvCxnSpPr>
        <p:spPr>
          <a:xfrm>
            <a:off x="4243779" y="1878710"/>
            <a:ext cx="139625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endCxn id="13" idx="1"/>
          </p:cNvCxnSpPr>
          <p:nvPr/>
        </p:nvCxnSpPr>
        <p:spPr>
          <a:xfrm>
            <a:off x="4243779" y="2227594"/>
            <a:ext cx="139624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endCxn id="15" idx="1"/>
          </p:cNvCxnSpPr>
          <p:nvPr/>
        </p:nvCxnSpPr>
        <p:spPr>
          <a:xfrm>
            <a:off x="4288400" y="2683095"/>
            <a:ext cx="116837" cy="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4266565" y="3169980"/>
            <a:ext cx="144000" cy="3810"/>
          </a:xfrm>
          <a:prstGeom prst="straightConnector1">
            <a:avLst/>
          </a:prstGeom>
          <a:ln w="0">
            <a:solidFill>
              <a:schemeClr val="tx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2" name="下箭头 41"/>
          <p:cNvSpPr/>
          <p:nvPr/>
        </p:nvSpPr>
        <p:spPr>
          <a:xfrm>
            <a:off x="4210050" y="545883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下箭头 42"/>
          <p:cNvSpPr/>
          <p:nvPr/>
        </p:nvSpPr>
        <p:spPr>
          <a:xfrm>
            <a:off x="4405238" y="4321868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箭头连接符 43"/>
          <p:cNvCxnSpPr/>
          <p:nvPr/>
        </p:nvCxnSpPr>
        <p:spPr>
          <a:xfrm flipV="1">
            <a:off x="4456673" y="4582218"/>
            <a:ext cx="635" cy="16827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5" name="肘形连接符 44"/>
          <p:cNvCxnSpPr/>
          <p:nvPr/>
        </p:nvCxnSpPr>
        <p:spPr>
          <a:xfrm rot="16200000" flipH="1">
            <a:off x="4456673" y="3376353"/>
            <a:ext cx="3175" cy="2748280"/>
          </a:xfrm>
          <a:prstGeom prst="bentConnector3">
            <a:avLst>
              <a:gd name="adj1" fmla="val -3470000"/>
            </a:avLst>
          </a:prstGeom>
          <a:ln w="0"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 flipV="1">
            <a:off x="3806433" y="4640638"/>
            <a:ext cx="0" cy="11874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 flipV="1">
            <a:off x="5145013" y="4643813"/>
            <a:ext cx="0" cy="118745"/>
          </a:xfrm>
          <a:prstGeom prst="straightConnector1">
            <a:avLst/>
          </a:prstGeom>
          <a:ln>
            <a:headEnd type="triangle"/>
            <a:tailEnd type="non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3140118" y="660083"/>
            <a:ext cx="2265593" cy="24574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下箭头 41"/>
          <p:cNvSpPr/>
          <p:nvPr/>
        </p:nvSpPr>
        <p:spPr>
          <a:xfrm>
            <a:off x="4210892" y="923875"/>
            <a:ext cx="113030" cy="108000"/>
          </a:xfrm>
          <a:prstGeom prst="downArrow">
            <a:avLst/>
          </a:prstGeom>
          <a:solidFill>
            <a:srgbClr val="558FE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 descr="微信图片_2024050914200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7630" y="73660"/>
            <a:ext cx="91376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椭圆 12"/>
          <p:cNvSpPr/>
          <p:nvPr/>
        </p:nvSpPr>
        <p:spPr>
          <a:xfrm>
            <a:off x="4139565" y="2662555"/>
            <a:ext cx="3545205" cy="2959100"/>
          </a:xfrm>
          <a:prstGeom prst="ellipse">
            <a:avLst/>
          </a:prstGeom>
          <a:solidFill>
            <a:schemeClr val="accent3">
              <a:lumMod val="40000"/>
              <a:lumOff val="60000"/>
              <a:alpha val="51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椭圆 11"/>
          <p:cNvSpPr/>
          <p:nvPr/>
        </p:nvSpPr>
        <p:spPr>
          <a:xfrm>
            <a:off x="1388110" y="2593340"/>
            <a:ext cx="3683000" cy="3028315"/>
          </a:xfrm>
          <a:prstGeom prst="ellipse">
            <a:avLst/>
          </a:prstGeom>
          <a:solidFill>
            <a:schemeClr val="accent4">
              <a:lumMod val="60000"/>
              <a:lumOff val="40000"/>
              <a:alpha val="2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椭圆 10"/>
          <p:cNvSpPr/>
          <p:nvPr/>
        </p:nvSpPr>
        <p:spPr>
          <a:xfrm>
            <a:off x="2593975" y="902335"/>
            <a:ext cx="3936365" cy="2283460"/>
          </a:xfrm>
          <a:prstGeom prst="ellipse">
            <a:avLst/>
          </a:prstGeom>
          <a:solidFill>
            <a:srgbClr val="D6DFEC">
              <a:alpha val="62000"/>
            </a:srgb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/>
        </p:nvSpPr>
        <p:spPr>
          <a:xfrm>
            <a:off x="3171825" y="1264920"/>
            <a:ext cx="2660650" cy="454025"/>
          </a:xfrm>
          <a:prstGeom prst="rect">
            <a:avLst/>
          </a:prstGeom>
          <a:noFill/>
          <a:ln w="31750">
            <a:solidFill>
              <a:srgbClr val="94CCED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圆角矩形 2"/>
          <p:cNvSpPr/>
          <p:nvPr/>
        </p:nvSpPr>
        <p:spPr>
          <a:xfrm>
            <a:off x="3066415" y="2046605"/>
            <a:ext cx="2936240" cy="742950"/>
          </a:xfrm>
          <a:prstGeom prst="roundRect">
            <a:avLst/>
          </a:prstGeom>
          <a:noFill/>
          <a:ln w="317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4098290" y="3444240"/>
            <a:ext cx="892175" cy="64579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 w="3175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754370" y="3418840"/>
            <a:ext cx="1527175" cy="965200"/>
          </a:xfrm>
          <a:prstGeom prst="roundRect">
            <a:avLst/>
          </a:prstGeom>
          <a:noFill/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1690370" y="3444240"/>
            <a:ext cx="1527175" cy="965200"/>
          </a:xfrm>
          <a:prstGeom prst="roundRect">
            <a:avLst/>
          </a:prstGeom>
          <a:noFill/>
          <a:ln w="31750"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4147185" y="4379595"/>
            <a:ext cx="878205" cy="715645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 w="31750"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5667375" y="4591050"/>
            <a:ext cx="1249680" cy="295275"/>
          </a:xfrm>
          <a:prstGeom prst="roundRect">
            <a:avLst/>
          </a:prstGeom>
          <a:noFill/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2185670" y="4589780"/>
            <a:ext cx="1249680" cy="295275"/>
          </a:xfrm>
          <a:prstGeom prst="roundRect">
            <a:avLst/>
          </a:prstGeom>
          <a:noFill/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下箭头 14"/>
          <p:cNvSpPr/>
          <p:nvPr/>
        </p:nvSpPr>
        <p:spPr>
          <a:xfrm>
            <a:off x="4399915" y="3103880"/>
            <a:ext cx="196850" cy="31496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3171825" y="2331085"/>
            <a:ext cx="1276350" cy="33147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矩形 16"/>
          <p:cNvSpPr/>
          <p:nvPr/>
        </p:nvSpPr>
        <p:spPr>
          <a:xfrm>
            <a:off x="4724400" y="2331720"/>
            <a:ext cx="1189355" cy="33147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下箭头 17"/>
          <p:cNvSpPr/>
          <p:nvPr/>
        </p:nvSpPr>
        <p:spPr>
          <a:xfrm>
            <a:off x="4399915" y="1801495"/>
            <a:ext cx="196850" cy="245745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3929380" y="2860675"/>
            <a:ext cx="1138555" cy="223520"/>
          </a:xfrm>
          <a:prstGeom prst="rect">
            <a:avLst/>
          </a:prstGeom>
          <a:solidFill>
            <a:srgbClr val="CFC5E8"/>
          </a:solidFill>
          <a:ln w="12700" cmpd="sng">
            <a:noFill/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下箭头 18"/>
          <p:cNvSpPr/>
          <p:nvPr/>
        </p:nvSpPr>
        <p:spPr>
          <a:xfrm rot="16200000">
            <a:off x="3568065" y="3373755"/>
            <a:ext cx="196850" cy="624840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下箭头 19"/>
          <p:cNvSpPr/>
          <p:nvPr/>
        </p:nvSpPr>
        <p:spPr>
          <a:xfrm rot="16200000">
            <a:off x="5280025" y="3378835"/>
            <a:ext cx="196850" cy="615315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下箭头 20"/>
          <p:cNvSpPr/>
          <p:nvPr/>
        </p:nvSpPr>
        <p:spPr>
          <a:xfrm rot="5400000">
            <a:off x="3540125" y="3570605"/>
            <a:ext cx="196850" cy="624840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下箭头 21"/>
          <p:cNvSpPr/>
          <p:nvPr/>
        </p:nvSpPr>
        <p:spPr>
          <a:xfrm rot="5400000">
            <a:off x="5245100" y="3559175"/>
            <a:ext cx="196850" cy="647700"/>
          </a:xfrm>
          <a:prstGeom prst="downArrow">
            <a:avLst>
              <a:gd name="adj1" fmla="val 50000"/>
              <a:gd name="adj2" fmla="val 61935"/>
            </a:avLst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786255" y="3568065"/>
            <a:ext cx="1322070" cy="488315"/>
          </a:xfrm>
          <a:prstGeom prst="rect">
            <a:avLst/>
          </a:prstGeom>
          <a:solidFill>
            <a:srgbClr val="C4DFB2"/>
          </a:solidFill>
          <a:ln w="12700" cmpd="sng">
            <a:noFill/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5868035" y="3568065"/>
            <a:ext cx="1322070" cy="488315"/>
          </a:xfrm>
          <a:prstGeom prst="rect">
            <a:avLst/>
          </a:prstGeom>
          <a:solidFill>
            <a:srgbClr val="F7CCAC"/>
          </a:solidFill>
          <a:ln w="12700" cmpd="sng">
            <a:noFill/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2185670" y="4131310"/>
            <a:ext cx="516890" cy="19304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6259195" y="4131310"/>
            <a:ext cx="516890" cy="19304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下箭头 26"/>
          <p:cNvSpPr/>
          <p:nvPr/>
        </p:nvSpPr>
        <p:spPr>
          <a:xfrm>
            <a:off x="4448175" y="4122420"/>
            <a:ext cx="196850" cy="205740"/>
          </a:xfrm>
          <a:prstGeom prst="downArrow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" name="直接连接符 27"/>
          <p:cNvCxnSpPr/>
          <p:nvPr/>
        </p:nvCxnSpPr>
        <p:spPr>
          <a:xfrm flipH="1">
            <a:off x="3435350" y="4737735"/>
            <a:ext cx="711835" cy="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stCxn id="9" idx="1"/>
            <a:endCxn id="8" idx="3"/>
          </p:cNvCxnSpPr>
          <p:nvPr/>
        </p:nvCxnSpPr>
        <p:spPr>
          <a:xfrm flipH="1" flipV="1">
            <a:off x="5025390" y="4737735"/>
            <a:ext cx="641985" cy="1270"/>
          </a:xfrm>
          <a:prstGeom prst="line">
            <a:avLst/>
          </a:prstGeom>
          <a:ln w="444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文本框 29"/>
          <p:cNvSpPr txBox="1"/>
          <p:nvPr/>
        </p:nvSpPr>
        <p:spPr>
          <a:xfrm>
            <a:off x="3929380" y="314134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4662805" y="312991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429635" y="3418840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5157470" y="3418840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5157470" y="389699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6" name="文本框 35"/>
          <p:cNvSpPr txBox="1"/>
          <p:nvPr/>
        </p:nvSpPr>
        <p:spPr>
          <a:xfrm>
            <a:off x="3443605" y="3896995"/>
            <a:ext cx="4292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3538855" y="2042160"/>
            <a:ext cx="5041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 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5067935" y="2059305"/>
            <a:ext cx="50419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 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3929380" y="1566545"/>
            <a:ext cx="1096010" cy="200660"/>
          </a:xfrm>
          <a:prstGeom prst="rect">
            <a:avLst/>
          </a:prstGeom>
          <a:solidFill>
            <a:schemeClr val="bg1"/>
          </a:solidFill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2273300" y="3141345"/>
            <a:ext cx="4927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6283325" y="3129915"/>
            <a:ext cx="492760" cy="2451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0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0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-s2.0-S2210670723002469-gr3_lr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1030" y="1014730"/>
            <a:ext cx="5361940" cy="48279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圆柱形 3"/>
          <p:cNvSpPr/>
          <p:nvPr/>
        </p:nvSpPr>
        <p:spPr>
          <a:xfrm>
            <a:off x="2470785" y="1210945"/>
            <a:ext cx="759460" cy="52070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5" name="矩形 4"/>
          <p:cNvSpPr/>
          <p:nvPr/>
        </p:nvSpPr>
        <p:spPr>
          <a:xfrm>
            <a:off x="3801745" y="1122045"/>
            <a:ext cx="1620000" cy="27368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801745" y="1604645"/>
            <a:ext cx="1620000" cy="273685"/>
          </a:xfrm>
          <a:prstGeom prst="rect">
            <a:avLst/>
          </a:prstGeom>
          <a:solidFill>
            <a:srgbClr val="E1F0D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6008370" y="1480185"/>
            <a:ext cx="1468120" cy="52578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8" name="圆柱形 7"/>
          <p:cNvSpPr/>
          <p:nvPr/>
        </p:nvSpPr>
        <p:spPr>
          <a:xfrm>
            <a:off x="2613025" y="2452370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9" name="圆柱形 8"/>
          <p:cNvSpPr/>
          <p:nvPr/>
        </p:nvSpPr>
        <p:spPr>
          <a:xfrm>
            <a:off x="2613025" y="2784475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10" name="圆柱形 9"/>
          <p:cNvSpPr/>
          <p:nvPr/>
        </p:nvSpPr>
        <p:spPr>
          <a:xfrm>
            <a:off x="2620010" y="3116580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11" name="圆柱形 10"/>
          <p:cNvSpPr/>
          <p:nvPr/>
        </p:nvSpPr>
        <p:spPr>
          <a:xfrm>
            <a:off x="2620010" y="3448685"/>
            <a:ext cx="617220" cy="260350"/>
          </a:xfrm>
          <a:prstGeom prst="can">
            <a:avLst/>
          </a:prstGeom>
          <a:noFill/>
          <a:ln w="0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12" name="矩形 11"/>
          <p:cNvSpPr/>
          <p:nvPr/>
        </p:nvSpPr>
        <p:spPr>
          <a:xfrm>
            <a:off x="3801745" y="2322830"/>
            <a:ext cx="1619885" cy="45974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sp>
        <p:nvSpPr>
          <p:cNvPr id="13" name="矩形 12"/>
          <p:cNvSpPr/>
          <p:nvPr/>
        </p:nvSpPr>
        <p:spPr>
          <a:xfrm>
            <a:off x="3801745" y="2998470"/>
            <a:ext cx="1619885" cy="829310"/>
          </a:xfrm>
          <a:prstGeom prst="rect">
            <a:avLst/>
          </a:prstGeom>
          <a:solidFill>
            <a:srgbClr val="FBE5D7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6008370" y="2273300"/>
            <a:ext cx="1468120" cy="654050"/>
          </a:xfrm>
          <a:prstGeom prst="round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6008370" y="3274695"/>
            <a:ext cx="1468120" cy="669290"/>
          </a:xfrm>
          <a:prstGeom prst="roundRect">
            <a:avLst/>
          </a:prstGeom>
          <a:solidFill>
            <a:srgbClr val="FFD5D6"/>
          </a:solidFill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6008370" y="4453890"/>
            <a:ext cx="1468120" cy="655955"/>
          </a:xfrm>
          <a:prstGeom prst="roundRect">
            <a:avLst/>
          </a:prstGeom>
          <a:solidFill>
            <a:srgbClr val="FFD5D6"/>
          </a:solidFill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008370" y="5528945"/>
            <a:ext cx="1468120" cy="415925"/>
          </a:xfrm>
          <a:prstGeom prst="roundRect">
            <a:avLst/>
          </a:prstGeom>
          <a:solidFill>
            <a:srgbClr val="FFD5D6"/>
          </a:solidFill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  <a:p>
            <a:pPr algn="ctr"/>
            <a:endParaRPr lang="zh-CN" altLang="en-US" sz="1400"/>
          </a:p>
        </p:txBody>
      </p:sp>
      <p:sp>
        <p:nvSpPr>
          <p:cNvPr id="19" name="矩形 18"/>
          <p:cNvSpPr/>
          <p:nvPr/>
        </p:nvSpPr>
        <p:spPr>
          <a:xfrm>
            <a:off x="3801745" y="4727575"/>
            <a:ext cx="1619885" cy="3683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3801745" y="5298440"/>
            <a:ext cx="1619885" cy="34734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3801745" y="5795010"/>
            <a:ext cx="1619885" cy="259715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</p:txBody>
      </p:sp>
      <p:sp>
        <p:nvSpPr>
          <p:cNvPr id="22" name="矩形 21"/>
          <p:cNvSpPr/>
          <p:nvPr/>
        </p:nvSpPr>
        <p:spPr>
          <a:xfrm>
            <a:off x="2373630" y="4513580"/>
            <a:ext cx="1073150" cy="318770"/>
          </a:xfrm>
          <a:prstGeom prst="rect">
            <a:avLst/>
          </a:prstGeom>
          <a:solidFill>
            <a:srgbClr val="E1F0DA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373630" y="5109845"/>
            <a:ext cx="1073150" cy="318770"/>
          </a:xfrm>
          <a:prstGeom prst="rect">
            <a:avLst/>
          </a:prstGeom>
          <a:solidFill>
            <a:srgbClr val="FBE5D7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4" name="肘形连接符 23"/>
          <p:cNvCxnSpPr>
            <a:stCxn id="5" idx="1"/>
            <a:endCxn id="6" idx="1"/>
          </p:cNvCxnSpPr>
          <p:nvPr/>
        </p:nvCxnSpPr>
        <p:spPr>
          <a:xfrm rot="10800000" flipH="1" flipV="1">
            <a:off x="3801745" y="1259205"/>
            <a:ext cx="3175" cy="482600"/>
          </a:xfrm>
          <a:prstGeom prst="bentConnector3">
            <a:avLst>
              <a:gd name="adj1" fmla="val -7500000"/>
            </a:avLst>
          </a:prstGeom>
          <a:ln w="0"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4" idx="4"/>
          </p:cNvCxnSpPr>
          <p:nvPr/>
        </p:nvCxnSpPr>
        <p:spPr>
          <a:xfrm>
            <a:off x="3230245" y="1471295"/>
            <a:ext cx="34988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5" idx="2"/>
            <a:endCxn id="6" idx="0"/>
          </p:cNvCxnSpPr>
          <p:nvPr/>
        </p:nvCxnSpPr>
        <p:spPr>
          <a:xfrm>
            <a:off x="4612005" y="1395730"/>
            <a:ext cx="0" cy="2089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6" idx="3"/>
            <a:endCxn id="7" idx="1"/>
          </p:cNvCxnSpPr>
          <p:nvPr/>
        </p:nvCxnSpPr>
        <p:spPr>
          <a:xfrm>
            <a:off x="5421630" y="1741805"/>
            <a:ext cx="586740" cy="127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>
            <a:stCxn id="7" idx="2"/>
            <a:endCxn id="15" idx="0"/>
          </p:cNvCxnSpPr>
          <p:nvPr/>
        </p:nvCxnSpPr>
        <p:spPr>
          <a:xfrm>
            <a:off x="6742430" y="2005965"/>
            <a:ext cx="0" cy="2673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>
            <a:stCxn id="15" idx="2"/>
            <a:endCxn id="16" idx="0"/>
          </p:cNvCxnSpPr>
          <p:nvPr/>
        </p:nvCxnSpPr>
        <p:spPr>
          <a:xfrm>
            <a:off x="6742430" y="2927350"/>
            <a:ext cx="0" cy="34734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>
            <a:stCxn id="16" idx="2"/>
            <a:endCxn id="17" idx="0"/>
          </p:cNvCxnSpPr>
          <p:nvPr/>
        </p:nvCxnSpPr>
        <p:spPr>
          <a:xfrm>
            <a:off x="6742430" y="3943985"/>
            <a:ext cx="0" cy="509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7" idx="2"/>
            <a:endCxn id="18" idx="0"/>
          </p:cNvCxnSpPr>
          <p:nvPr/>
        </p:nvCxnSpPr>
        <p:spPr>
          <a:xfrm>
            <a:off x="6742430" y="5109845"/>
            <a:ext cx="0" cy="41910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9" idx="3"/>
            <a:endCxn id="15" idx="1"/>
          </p:cNvCxnSpPr>
          <p:nvPr/>
        </p:nvCxnSpPr>
        <p:spPr>
          <a:xfrm flipV="1">
            <a:off x="5421630" y="2600325"/>
            <a:ext cx="586740" cy="2311400"/>
          </a:xfrm>
          <a:prstGeom prst="bentConnector3">
            <a:avLst>
              <a:gd name="adj1" fmla="val 39177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肘形连接符 32"/>
          <p:cNvCxnSpPr>
            <a:stCxn id="22" idx="3"/>
            <a:endCxn id="23" idx="3"/>
          </p:cNvCxnSpPr>
          <p:nvPr/>
        </p:nvCxnSpPr>
        <p:spPr>
          <a:xfrm>
            <a:off x="3446780" y="4672965"/>
            <a:ext cx="3175" cy="596265"/>
          </a:xfrm>
          <a:prstGeom prst="bentConnector3">
            <a:avLst>
              <a:gd name="adj1" fmla="val 4380000"/>
            </a:avLst>
          </a:prstGeom>
          <a:ln>
            <a:solidFill>
              <a:schemeClr val="tx1"/>
            </a:solidFill>
            <a:headEnd type="triangle"/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3565525" y="4909820"/>
            <a:ext cx="243840" cy="190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>
            <a:stCxn id="19" idx="2"/>
            <a:endCxn id="20" idx="0"/>
          </p:cNvCxnSpPr>
          <p:nvPr/>
        </p:nvCxnSpPr>
        <p:spPr>
          <a:xfrm>
            <a:off x="4612005" y="5095875"/>
            <a:ext cx="0" cy="20256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20" idx="2"/>
            <a:endCxn id="21" idx="0"/>
          </p:cNvCxnSpPr>
          <p:nvPr/>
        </p:nvCxnSpPr>
        <p:spPr>
          <a:xfrm>
            <a:off x="4612005" y="5645785"/>
            <a:ext cx="0" cy="1492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7" name="矩形 36"/>
          <p:cNvSpPr/>
          <p:nvPr/>
        </p:nvSpPr>
        <p:spPr>
          <a:xfrm>
            <a:off x="4295140" y="6032500"/>
            <a:ext cx="1126490" cy="25971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zh-CN" altLang="en-US" sz="1400"/>
          </a:p>
        </p:txBody>
      </p:sp>
      <p:cxnSp>
        <p:nvCxnSpPr>
          <p:cNvPr id="38" name="肘形连接符 37"/>
          <p:cNvCxnSpPr>
            <a:stCxn id="21" idx="3"/>
            <a:endCxn id="16" idx="1"/>
          </p:cNvCxnSpPr>
          <p:nvPr/>
        </p:nvCxnSpPr>
        <p:spPr>
          <a:xfrm flipV="1">
            <a:off x="5421630" y="3609340"/>
            <a:ext cx="586740" cy="2315845"/>
          </a:xfrm>
          <a:prstGeom prst="bentConnector3">
            <a:avLst>
              <a:gd name="adj1" fmla="val 6764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7" idx="3"/>
            <a:endCxn id="17" idx="1"/>
          </p:cNvCxnSpPr>
          <p:nvPr/>
        </p:nvCxnSpPr>
        <p:spPr>
          <a:xfrm flipV="1">
            <a:off x="5421630" y="4782185"/>
            <a:ext cx="586740" cy="1380490"/>
          </a:xfrm>
          <a:prstGeom prst="bentConnector3">
            <a:avLst>
              <a:gd name="adj1" fmla="val 8517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0" name="圆角矩形 39"/>
          <p:cNvSpPr/>
          <p:nvPr/>
        </p:nvSpPr>
        <p:spPr>
          <a:xfrm>
            <a:off x="1958340" y="730250"/>
            <a:ext cx="6003290" cy="5662295"/>
          </a:xfrm>
          <a:prstGeom prst="roundRect">
            <a:avLst>
              <a:gd name="adj" fmla="val 3689"/>
            </a:avLst>
          </a:prstGeom>
          <a:noFill/>
          <a:ln w="12700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400"/>
          </a:p>
        </p:txBody>
      </p:sp>
      <p:cxnSp>
        <p:nvCxnSpPr>
          <p:cNvPr id="41" name="直接连接符 40"/>
          <p:cNvCxnSpPr/>
          <p:nvPr/>
        </p:nvCxnSpPr>
        <p:spPr>
          <a:xfrm>
            <a:off x="1967230" y="2071370"/>
            <a:ext cx="6012000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连接符 41"/>
          <p:cNvCxnSpPr/>
          <p:nvPr/>
        </p:nvCxnSpPr>
        <p:spPr>
          <a:xfrm>
            <a:off x="1958340" y="4216400"/>
            <a:ext cx="6012000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连接符 42"/>
          <p:cNvCxnSpPr/>
          <p:nvPr/>
        </p:nvCxnSpPr>
        <p:spPr>
          <a:xfrm>
            <a:off x="5727065" y="719455"/>
            <a:ext cx="13970" cy="5681980"/>
          </a:xfrm>
          <a:prstGeom prst="line">
            <a:avLst/>
          </a:prstGeom>
          <a:ln w="12700" cmpd="sng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7" name="文本框 56"/>
          <p:cNvSpPr txBox="1"/>
          <p:nvPr/>
        </p:nvSpPr>
        <p:spPr>
          <a:xfrm>
            <a:off x="1846580" y="73025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altLang="en-US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①</a:t>
            </a:r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1807845" y="207137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②</a:t>
            </a:r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1807845" y="421640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zh-CN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③</a:t>
            </a:r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5624195" y="730250"/>
            <a:ext cx="889635" cy="3067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400" b="1" i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Text</a:t>
            </a:r>
            <a:endParaRPr lang="en-US" altLang="zh-CN" sz="1400" b="1" i="1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7047230" y="121094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7047230" y="201549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7101840" y="299910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7101840" y="417830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4008755" y="382778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2613025" y="478218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2633980" y="542861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2548890" y="173037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9" name="文本框 68"/>
          <p:cNvSpPr txBox="1"/>
          <p:nvPr/>
        </p:nvSpPr>
        <p:spPr>
          <a:xfrm>
            <a:off x="4358640" y="250698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70" name="文本框 69"/>
          <p:cNvSpPr txBox="1"/>
          <p:nvPr/>
        </p:nvSpPr>
        <p:spPr>
          <a:xfrm>
            <a:off x="4358640" y="2322830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 b="1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 b="1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75" name="图片 74" descr="手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>
            <a:off x="2910205" y="1386840"/>
            <a:ext cx="173990" cy="121920"/>
          </a:xfrm>
          <a:prstGeom prst="rect">
            <a:avLst/>
          </a:prstGeom>
        </p:spPr>
      </p:pic>
      <p:pic>
        <p:nvPicPr>
          <p:cNvPr id="76" name="图片 75" descr="手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797175" y="1560830"/>
            <a:ext cx="173990" cy="121920"/>
          </a:xfrm>
          <a:prstGeom prst="rect">
            <a:avLst/>
          </a:prstGeom>
        </p:spPr>
      </p:pic>
      <p:pic>
        <p:nvPicPr>
          <p:cNvPr id="77" name="图片 76" descr="手机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004185" y="1560830"/>
            <a:ext cx="173990" cy="121920"/>
          </a:xfrm>
          <a:prstGeom prst="rect">
            <a:avLst/>
          </a:prstGeom>
        </p:spPr>
      </p:pic>
      <p:pic>
        <p:nvPicPr>
          <p:cNvPr id="78" name="图片 77" descr="信号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48890" y="1395730"/>
            <a:ext cx="234315" cy="234315"/>
          </a:xfrm>
          <a:prstGeom prst="rect">
            <a:avLst/>
          </a:prstGeom>
        </p:spPr>
      </p:pic>
      <p:sp>
        <p:nvSpPr>
          <p:cNvPr id="79" name="文本框 78"/>
          <p:cNvSpPr txBox="1"/>
          <p:nvPr/>
        </p:nvSpPr>
        <p:spPr>
          <a:xfrm>
            <a:off x="4295140" y="347154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8120" y="294640"/>
            <a:ext cx="5124450" cy="2197100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499870" y="3383280"/>
            <a:ext cx="118491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1499870" y="4079875"/>
            <a:ext cx="1184910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499870" y="4591685"/>
            <a:ext cx="1184910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499870" y="5169535"/>
            <a:ext cx="1184910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428750" y="3294380"/>
            <a:ext cx="1339215" cy="2316480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3042920" y="3383280"/>
            <a:ext cx="43307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3357880" y="4338955"/>
            <a:ext cx="883285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199765" y="5050155"/>
            <a:ext cx="1199515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971800" y="3294380"/>
            <a:ext cx="1714500" cy="2316480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4971415" y="3383280"/>
            <a:ext cx="868045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34330" y="4138930"/>
            <a:ext cx="1053465" cy="280670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4971415" y="4591685"/>
            <a:ext cx="90043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5352415" y="5169535"/>
            <a:ext cx="1261745" cy="339725"/>
          </a:xfrm>
          <a:prstGeom prst="rect">
            <a:avLst/>
          </a:prstGeom>
          <a:solidFill>
            <a:srgbClr val="FFE6CD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900295" y="4531995"/>
            <a:ext cx="1824990" cy="1078865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文本框 60"/>
          <p:cNvSpPr txBox="1"/>
          <p:nvPr/>
        </p:nvSpPr>
        <p:spPr>
          <a:xfrm>
            <a:off x="1428750" y="296735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  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71800" y="296735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  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900295" y="2967355"/>
            <a:ext cx="6032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ctr"/>
            <a:r>
              <a:rPr lang="en-US" altLang="zh-CN" sz="12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  text</a:t>
            </a:r>
            <a:endParaRPr lang="en-US" altLang="zh-CN" sz="120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0" name="直接箭头连接符 19"/>
          <p:cNvCxnSpPr>
            <a:stCxn id="3" idx="2"/>
            <a:endCxn id="4" idx="0"/>
          </p:cNvCxnSpPr>
          <p:nvPr/>
        </p:nvCxnSpPr>
        <p:spPr>
          <a:xfrm>
            <a:off x="2092325" y="3723005"/>
            <a:ext cx="0" cy="356870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>
            <a:off x="2077085" y="4425315"/>
            <a:ext cx="12065" cy="16700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>
            <a:stCxn id="5" idx="2"/>
            <a:endCxn id="6" idx="0"/>
          </p:cNvCxnSpPr>
          <p:nvPr/>
        </p:nvCxnSpPr>
        <p:spPr>
          <a:xfrm>
            <a:off x="2092325" y="4931410"/>
            <a:ext cx="0" cy="238125"/>
          </a:xfrm>
          <a:prstGeom prst="straightConnector1">
            <a:avLst/>
          </a:prstGeom>
          <a:ln w="3175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10" idx="2"/>
            <a:endCxn id="11" idx="0"/>
          </p:cNvCxnSpPr>
          <p:nvPr/>
        </p:nvCxnSpPr>
        <p:spPr>
          <a:xfrm rot="5400000" flipV="1">
            <a:off x="3614103" y="4864418"/>
            <a:ext cx="371475" cy="3175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矩形 23"/>
          <p:cNvSpPr/>
          <p:nvPr/>
        </p:nvSpPr>
        <p:spPr>
          <a:xfrm>
            <a:off x="3538220" y="3388995"/>
            <a:ext cx="52197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4123055" y="3388995"/>
            <a:ext cx="52197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5930265" y="3388995"/>
            <a:ext cx="684530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930265" y="4591685"/>
            <a:ext cx="683895" cy="339725"/>
          </a:xfrm>
          <a:prstGeom prst="rect">
            <a:avLst/>
          </a:prstGeom>
          <a:solidFill>
            <a:srgbClr val="D1E4FF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cxnSp>
        <p:nvCxnSpPr>
          <p:cNvPr id="28" name="直接箭头连接符 27"/>
          <p:cNvCxnSpPr>
            <a:stCxn id="24" idx="2"/>
            <a:endCxn id="10" idx="0"/>
          </p:cNvCxnSpPr>
          <p:nvPr/>
        </p:nvCxnSpPr>
        <p:spPr>
          <a:xfrm>
            <a:off x="3799205" y="3728720"/>
            <a:ext cx="635" cy="61023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9" name="肘形连接符 28"/>
          <p:cNvCxnSpPr>
            <a:stCxn id="8" idx="2"/>
            <a:endCxn id="25" idx="2"/>
          </p:cNvCxnSpPr>
          <p:nvPr/>
        </p:nvCxnSpPr>
        <p:spPr>
          <a:xfrm rot="5400000" flipV="1">
            <a:off x="3818890" y="3162935"/>
            <a:ext cx="5715" cy="1124585"/>
          </a:xfrm>
          <a:prstGeom prst="bentConnector3">
            <a:avLst>
              <a:gd name="adj1" fmla="val 4266667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13" idx="2"/>
            <a:endCxn id="26" idx="2"/>
          </p:cNvCxnSpPr>
          <p:nvPr/>
        </p:nvCxnSpPr>
        <p:spPr>
          <a:xfrm rot="5400000" flipV="1">
            <a:off x="5836285" y="3291840"/>
            <a:ext cx="5715" cy="866775"/>
          </a:xfrm>
          <a:prstGeom prst="bentConnector3">
            <a:avLst>
              <a:gd name="adj1" fmla="val 3322222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endCxn id="14" idx="0"/>
          </p:cNvCxnSpPr>
          <p:nvPr/>
        </p:nvCxnSpPr>
        <p:spPr>
          <a:xfrm>
            <a:off x="5955665" y="3913505"/>
            <a:ext cx="5715" cy="2254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15" idx="2"/>
            <a:endCxn id="27" idx="2"/>
          </p:cNvCxnSpPr>
          <p:nvPr/>
        </p:nvCxnSpPr>
        <p:spPr>
          <a:xfrm rot="5400000" flipV="1">
            <a:off x="5847080" y="4505960"/>
            <a:ext cx="3175" cy="850900"/>
          </a:xfrm>
          <a:prstGeom prst="bentConnector3">
            <a:avLst>
              <a:gd name="adj1" fmla="val 3250000"/>
            </a:avLst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>
            <a:endCxn id="16" idx="0"/>
          </p:cNvCxnSpPr>
          <p:nvPr/>
        </p:nvCxnSpPr>
        <p:spPr>
          <a:xfrm flipH="1">
            <a:off x="5983605" y="5033010"/>
            <a:ext cx="1905" cy="13652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矩形 33"/>
          <p:cNvSpPr/>
          <p:nvPr/>
        </p:nvSpPr>
        <p:spPr>
          <a:xfrm>
            <a:off x="4897120" y="3289300"/>
            <a:ext cx="1824990" cy="1173480"/>
          </a:xfrm>
          <a:prstGeom prst="rect">
            <a:avLst/>
          </a:prstGeom>
          <a:noFill/>
          <a:ln w="9525" cmpd="sng">
            <a:solidFill>
              <a:schemeClr val="tx1">
                <a:lumMod val="50000"/>
                <a:lumOff val="50000"/>
              </a:schemeClr>
            </a:solidFill>
            <a:prstDash val="sys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右箭头 34"/>
          <p:cNvSpPr/>
          <p:nvPr/>
        </p:nvSpPr>
        <p:spPr>
          <a:xfrm>
            <a:off x="2771775" y="4406900"/>
            <a:ext cx="196215" cy="125095"/>
          </a:xfrm>
          <a:prstGeom prst="rightArrow">
            <a:avLst/>
          </a:prstGeom>
          <a:solidFill>
            <a:srgbClr val="F57B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右箭头 35"/>
          <p:cNvSpPr/>
          <p:nvPr/>
        </p:nvSpPr>
        <p:spPr>
          <a:xfrm>
            <a:off x="4690110" y="4425315"/>
            <a:ext cx="196215" cy="125095"/>
          </a:xfrm>
          <a:prstGeom prst="rightArrow">
            <a:avLst/>
          </a:prstGeom>
          <a:solidFill>
            <a:srgbClr val="F57B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YPE" val="icon"/>
</p:tagLst>
</file>

<file path=ppt/tags/tag2.xml><?xml version="1.0" encoding="utf-8"?>
<p:tagLst xmlns:p="http://schemas.openxmlformats.org/presentationml/2006/main">
  <p:tag name="TYPE" val="icon"/>
</p:tagLst>
</file>

<file path=ppt/tags/tag3.xml><?xml version="1.0" encoding="utf-8"?>
<p:tagLst xmlns:p="http://schemas.openxmlformats.org/presentationml/2006/main">
  <p:tag name="TYPE" val="icon"/>
</p:tagLst>
</file>

<file path=ppt/tags/tag4.xml><?xml version="1.0" encoding="utf-8"?>
<p:tagLst xmlns:p="http://schemas.openxmlformats.org/presentationml/2006/main">
  <p:tag name="TYPE" val="icon"/>
</p:tagLst>
</file>

<file path=ppt/tags/tag5.xml><?xml version="1.0" encoding="utf-8"?>
<p:tagLst xmlns:p="http://schemas.openxmlformats.org/presentationml/2006/main">
  <p:tag name="TYPE" val="icon"/>
</p:tagLst>
</file>

<file path=ppt/tags/tag6.xml><?xml version="1.0" encoding="utf-8"?>
<p:tagLst xmlns:p="http://schemas.openxmlformats.org/presentationml/2006/main">
  <p:tag name="TYPE" val="icon"/>
</p:tagLst>
</file>

<file path=ppt/tags/tag7.xml><?xml version="1.0" encoding="utf-8"?>
<p:tagLst xmlns:p="http://schemas.openxmlformats.org/presentationml/2006/main">
  <p:tag name="TYPE" val="icon"/>
</p:tagLst>
</file>

<file path=ppt/tags/tag8.xml><?xml version="1.0" encoding="utf-8"?>
<p:tagLst xmlns:p="http://schemas.openxmlformats.org/presentationml/2006/main">
  <p:tag name="TYPE" val="icon"/>
</p:tagLst>
</file>

<file path=ppt/tags/tag9.xml><?xml version="1.0" encoding="utf-8"?>
<p:tagLst xmlns:p="http://schemas.openxmlformats.org/presentationml/2006/main">
  <p:tag name="TYPE" val="icon"/>
</p:tagLst>
</file>

<file path=ppt/tags/tag10.xml><?xml version="1.0" encoding="utf-8"?>
<p:tagLst xmlns:p="http://schemas.openxmlformats.org/presentationml/2006/main">
  <p:tag name="TYPE" val="icon"/>
</p:tagLst>
</file>

<file path=ppt/tags/tag11.xml><?xml version="1.0" encoding="utf-8"?>
<p:tagLst xmlns:p="http://schemas.openxmlformats.org/presentationml/2006/main">
  <p:tag name="TYPE" val="icon"/>
</p:tagLst>
</file>

<file path=ppt/tags/tag12.xml><?xml version="1.0" encoding="utf-8"?>
<p:tagLst xmlns:p="http://schemas.openxmlformats.org/presentationml/2006/main">
  <p:tag name="TYPE" val="icon"/>
</p:tagLst>
</file>

<file path=ppt/tags/tag13.xml><?xml version="1.0" encoding="utf-8"?>
<p:tagLst xmlns:p="http://schemas.openxmlformats.org/presentationml/2006/main">
  <p:tag name="TYPE" val="icon"/>
</p:tagLst>
</file>

<file path=ppt/tags/tag14.xml><?xml version="1.0" encoding="utf-8"?>
<p:tagLst xmlns:p="http://schemas.openxmlformats.org/presentationml/2006/main">
  <p:tag name="TYPE" val="icon"/>
</p:tagLst>
</file>

<file path=ppt/tags/tag15.xml><?xml version="1.0" encoding="utf-8"?>
<p:tagLst xmlns:p="http://schemas.openxmlformats.org/presentationml/2006/main">
  <p:tag name="TYPE" val="icon"/>
</p:tagLst>
</file>

<file path=ppt/tags/tag16.xml><?xml version="1.0" encoding="utf-8"?>
<p:tagLst xmlns:p="http://schemas.openxmlformats.org/presentationml/2006/main">
  <p:tag name="TYPE" val="icon"/>
</p:tagLst>
</file>

<file path=ppt/tags/tag17.xml><?xml version="1.0" encoding="utf-8"?>
<p:tagLst xmlns:p="http://schemas.openxmlformats.org/presentationml/2006/main">
  <p:tag name="TYPE" val="icon"/>
</p:tagLst>
</file>

<file path=ppt/tags/tag18.xml><?xml version="1.0" encoding="utf-8"?>
<p:tagLst xmlns:p="http://schemas.openxmlformats.org/presentationml/2006/main">
  <p:tag name="TYPE" val="icon"/>
</p:tagLst>
</file>

<file path=ppt/tags/tag19.xml><?xml version="1.0" encoding="utf-8"?>
<p:tagLst xmlns:p="http://schemas.openxmlformats.org/presentationml/2006/main">
  <p:tag name="TYPE" val="icon"/>
</p:tagLst>
</file>

<file path=ppt/tags/tag20.xml><?xml version="1.0" encoding="utf-8"?>
<p:tagLst xmlns:p="http://schemas.openxmlformats.org/presentationml/2006/main">
  <p:tag name="TYPE" val="icon"/>
</p:tagLst>
</file>

<file path=ppt/tags/tag21.xml><?xml version="1.0" encoding="utf-8"?>
<p:tagLst xmlns:p="http://schemas.openxmlformats.org/presentationml/2006/main">
  <p:tag name="TYPE" val="icon"/>
</p:tagLst>
</file>

<file path=ppt/tags/tag22.xml><?xml version="1.0" encoding="utf-8"?>
<p:tagLst xmlns:p="http://schemas.openxmlformats.org/presentationml/2006/main">
  <p:tag name="TYPE" val="icon"/>
</p:tagLst>
</file>

<file path=ppt/tags/tag23.xml><?xml version="1.0" encoding="utf-8"?>
<p:tagLst xmlns:p="http://schemas.openxmlformats.org/presentationml/2006/main">
  <p:tag name="TYPE" val="icon"/>
</p:tagLst>
</file>

<file path=ppt/tags/tag24.xml><?xml version="1.0" encoding="utf-8"?>
<p:tagLst xmlns:p="http://schemas.openxmlformats.org/presentationml/2006/main">
  <p:tag name="TYPE" val="icon"/>
</p:tagLst>
</file>

<file path=ppt/tags/tag25.xml><?xml version="1.0" encoding="utf-8"?>
<p:tagLst xmlns:p="http://schemas.openxmlformats.org/presentationml/2006/main">
  <p:tag name="TYPE" val="icon"/>
</p:tagLst>
</file>

<file path=ppt/tags/tag26.xml><?xml version="1.0" encoding="utf-8"?>
<p:tagLst xmlns:p="http://schemas.openxmlformats.org/presentationml/2006/main">
  <p:tag name="TYPE" val="icon"/>
</p:tagLst>
</file>

<file path=ppt/tags/tag27.xml><?xml version="1.0" encoding="utf-8"?>
<p:tagLst xmlns:p="http://schemas.openxmlformats.org/presentationml/2006/main">
  <p:tag name="TYPE" val="icon"/>
</p:tagLst>
</file>

<file path=ppt/tags/tag28.xml><?xml version="1.0" encoding="utf-8"?>
<p:tagLst xmlns:p="http://schemas.openxmlformats.org/presentationml/2006/main">
  <p:tag name="TYPE" val="icon"/>
</p:tagLst>
</file>

<file path=ppt/tags/tag29.xml><?xml version="1.0" encoding="utf-8"?>
<p:tagLst xmlns:p="http://schemas.openxmlformats.org/presentationml/2006/main">
  <p:tag name="RESOURCE_RECORD_KEY" val="{&quot;70&quot;:[3312296]}"/>
  <p:tag name="COMMONDATA" val="eyJoZGlkIjoiMzEwNTM5NzYwMDRjMzkwZTVkZjY2ODkwMGIxNGU0OTUifQ=="/>
  <p:tag name="OPCH-420C14F487F8008A84CA72C462AB2AA2506F34315ED7D391CCC5CC5AFA995126" val="[{&quot;GradientColorId&quot;:&quot;&quot;,&quot;IsFree&quot;:true,&quot;IsGradient&quot;:false,&quot;ImagePath&quot;:&quot;&quot;,&quot;GradientColor&quot;:null,&quot;SimpleColor&quot;:&quot;#C00000&quot;},{&quot;GradientColorId&quot;:&quot;&quot;,&quot;IsFree&quot;:true,&quot;IsGradient&quot;:false,&quot;ImagePath&quot;:&quot;&quot;,&quot;GradientColor&quot;:null,&quot;SimpleColor&quot;:&quot;#808080&quot;},{&quot;GradientColorId&quot;:&quot;&quot;,&quot;IsFree&quot;:true,&quot;IsGradient&quot;:false,&quot;ImagePath&quot;:&quot;&quot;,&quot;GradientColor&quot;:null,&quot;SimpleColor&quot;:&quot;#A6A6A6&quot;},{&quot;GradientColorId&quot;:&quot;&quot;,&quot;IsFree&quot;:true,&quot;IsGradient&quot;:false,&quot;ImagePath&quot;:&quot;&quot;,&quot;GradientColor&quot;:null,&quot;SimpleColor&quot;:&quot;#795D01&quot;}]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3099</Words>
  <Application>WPS 演示</Application>
  <PresentationFormat>全屏显示(4:3)</PresentationFormat>
  <Paragraphs>424</Paragraphs>
  <Slides>17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9" baseType="lpstr">
      <vt:lpstr>Arial</vt:lpstr>
      <vt:lpstr>宋体</vt:lpstr>
      <vt:lpstr>Wingdings</vt:lpstr>
      <vt:lpstr>Cambria Math</vt:lpstr>
      <vt:lpstr>Times New Roman</vt:lpstr>
      <vt:lpstr>Calibri</vt:lpstr>
      <vt:lpstr>微软雅黑</vt:lpstr>
      <vt:lpstr>Arial Unicode MS</vt:lpstr>
      <vt:lpstr>Calibri</vt:lpstr>
      <vt:lpstr>MS Mincho</vt:lpstr>
      <vt:lpstr>Segoe Print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白洁媛</dc:creator>
  <cp:lastModifiedBy>云若菡</cp:lastModifiedBy>
  <cp:revision>51</cp:revision>
  <dcterms:created xsi:type="dcterms:W3CDTF">2023-08-09T12:44:00Z</dcterms:created>
  <dcterms:modified xsi:type="dcterms:W3CDTF">2026-02-01T15:01:08Z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BBFDF12AF3A9492181A7918AD8D42724_13</vt:lpwstr>
  </property>
  <property fmtid="{D5CDD505-2E9C-101B-9397-08002B2CF9AE}" pid="3" name="KSOProductBuildVer">
    <vt:lpwstr>2052-12.1.0.24034</vt:lpwstr>
  </property>
</Properties>
</file>